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12191675"/>
  <p:notesSz cx="6858000" cy="9144000"/>
  <p:embeddedFontLst>
    <p:embeddedFont>
      <p:font typeface="Quattrocento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7" roundtripDataSignature="AMtx7mgQsy7okeBdrIPEfFhYriDU21NG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E2C672-2872-4643-8F06-8D0F69C24944}">
  <a:tblStyle styleId="{73E2C672-2872-4643-8F06-8D0F69C2494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QuattrocentoSans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QuattrocentoSans-italic.fntdata"/><Relationship Id="rId12" Type="http://schemas.openxmlformats.org/officeDocument/2006/relationships/slide" Target="slides/slide6.xml"/><Relationship Id="rId34" Type="http://schemas.openxmlformats.org/officeDocument/2006/relationships/font" Target="fonts/QuattrocentoSans-bold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QuattrocentoSa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No-show %</c:v>
                </c:pt>
              </c:strCache>
            </c:strRef>
          </c:tx>
          <c:spPr>
            <a:solidFill>
              <a:srgbClr val="D9754A"/>
            </a:solidFill>
          </c:spPr>
          <c:cat>
            <c:strRef>
              <c:f>Sheet1!$A$2:$A$8</c:f>
              <c:strCache>
                <c:ptCount val="7"/>
                <c:pt idx="0">
                  <c:v>Tom Rivera</c:v>
                </c:pt>
                <c:pt idx="1">
                  <c:v>Helen Simmons</c:v>
                </c:pt>
                <c:pt idx="2">
                  <c:v>Rachel Green</c:v>
                </c:pt>
                <c:pt idx="3">
                  <c:v>Mary Kelly</c:v>
                </c:pt>
                <c:pt idx="4">
                  <c:v>Aisha Khan</c:v>
                </c:pt>
                <c:pt idx="5">
                  <c:v>Paul Simmons</c:v>
                </c:pt>
                <c:pt idx="6">
                  <c:v>James Chen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18.7</c:v>
                </c:pt>
                <c:pt idx="1">
                  <c:v>15.2</c:v>
                </c:pt>
                <c:pt idx="2">
                  <c:v>15.1</c:v>
                </c:pt>
                <c:pt idx="3">
                  <c:v>14.5</c:v>
                </c:pt>
                <c:pt idx="4">
                  <c:v>11.1</c:v>
                </c:pt>
                <c:pt idx="5">
                  <c:v>10.0</c:v>
                </c:pt>
                <c:pt idx="6">
                  <c:v>9.8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4DCC8"/>
            </a:solidFill>
          </a:ln>
        </c:spPr>
        <c:txPr>
          <a:bodyPr/>
          <a:lstStyle/>
          <a:p>
            <a:pPr>
              <a:defRPr sz="700">
                <a:solidFill>
                  <a:srgbClr val="6B5F52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EFE9D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4DCC8"/>
            </a:solidFill>
          </a:ln>
        </c:spPr>
        <c:txPr>
          <a:bodyPr/>
          <a:lstStyle/>
          <a:p>
            <a:pPr>
              <a:defRPr sz="700">
                <a:solidFill>
                  <a:srgbClr val="6B5F52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Claims</c:v>
                </c:pt>
              </c:strCache>
            </c:strRef>
          </c:tx>
          <c:dPt>
            <c:idx val="0"/>
            <c:spPr>
              <a:solidFill>
                <a:srgbClr val="2F8577"/>
              </a:solidFill>
            </c:spPr>
          </c:dPt>
          <c:dPt>
            <c:idx val="1"/>
            <c:spPr>
              <a:solidFill>
                <a:srgbClr val="F2B134"/>
              </a:solidFill>
            </c:spPr>
          </c:dPt>
          <c:dPt>
            <c:idx val="2"/>
            <c:spPr>
              <a:solidFill>
                <a:srgbClr val="D9754A"/>
              </a:solidFill>
            </c:spPr>
          </c:dPt>
          <c:cat>
            <c:strRef>
              <c:f>Sheet1!$A$2:$A$4</c:f>
              <c:strCache>
                <c:ptCount val="3"/>
                <c:pt idx="0">
                  <c:v>Paid</c:v>
                </c:pt>
                <c:pt idx="1">
                  <c:v>Pending</c:v>
                </c:pt>
                <c:pt idx="2">
                  <c:v>Rejected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827</c:v>
                </c:pt>
                <c:pt idx="1">
                  <c:v>75</c:v>
                </c:pt>
                <c:pt idx="2">
                  <c:v>75</c:v>
                </c:pt>
              </c:numCache>
            </c:numRef>
          </c:val>
        </c:ser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750">
              <a:solidFill>
                <a:srgbClr val="6B5F52"/>
              </a:solidFill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0332720" y="-914400"/>
            <a:ext cx="3108960" cy="3108960"/>
          </a:xfrm>
          <a:prstGeom prst="ellipse">
            <a:avLst/>
          </a:prstGeom>
          <a:solidFill>
            <a:srgbClr val="FBE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0881360" y="502920"/>
            <a:ext cx="1920240" cy="1920240"/>
          </a:xfrm>
          <a:prstGeom prst="ellipse">
            <a:avLst/>
          </a:prstGeom>
          <a:solidFill>
            <a:srgbClr val="FDF1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1475720" y="1600200"/>
            <a:ext cx="1143000" cy="1143000"/>
          </a:xfrm>
          <a:prstGeom prst="ellipse">
            <a:avLst/>
          </a:prstGeom>
          <a:solidFill>
            <a:srgbClr val="E4F1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bc_partners_logo.png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7651" y="502920"/>
            <a:ext cx="1316736" cy="146304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5844387" y="105156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pic>
        <p:nvPicPr>
          <p:cNvPr descr="simmons_medical_logo.png" id="90" name="Google Shape;9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7307" y="502920"/>
            <a:ext cx="1316736" cy="146304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914400" y="233172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PROPOSAL PITCH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914400" y="2651760"/>
            <a:ext cx="1036015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Managed IT, Practice Systems &amp;</a:t>
            </a:r>
            <a:endParaRPr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Financial Services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914400" y="3703320"/>
            <a:ext cx="103601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Simmons Medical Practice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5779008" y="4315968"/>
            <a:ext cx="640080" cy="41148"/>
          </a:xfrm>
          <a:prstGeom prst="rect">
            <a:avLst/>
          </a:prstGeom>
          <a:solidFill>
            <a:srgbClr val="D975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914400" y="452628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Prepared by ABC Partners  ·  Presented to Dr Paul Simmons  ·  26 July 2026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914400" y="5257800"/>
            <a:ext cx="10360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SIMMONS MEDICAL PRACTICE — DIGITAL TRANSFORMATION PROJECT TEAM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755751" y="5623560"/>
            <a:ext cx="1673352" cy="384048"/>
          </a:xfrm>
          <a:prstGeom prst="roundRect">
            <a:avLst>
              <a:gd fmla="val 50000" name="adj"/>
            </a:avLst>
          </a:prstGeom>
          <a:solidFill>
            <a:srgbClr val="FCF9F1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755751" y="5623560"/>
            <a:ext cx="1673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Lead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2557119" y="5623560"/>
            <a:ext cx="1673352" cy="384048"/>
          </a:xfrm>
          <a:prstGeom prst="roundRect">
            <a:avLst>
              <a:gd fmla="val 50000" name="adj"/>
            </a:avLst>
          </a:prstGeom>
          <a:solidFill>
            <a:srgbClr val="FCF9F1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557119" y="5623560"/>
            <a:ext cx="1673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4358487" y="5623560"/>
            <a:ext cx="1673352" cy="384048"/>
          </a:xfrm>
          <a:prstGeom prst="roundRect">
            <a:avLst>
              <a:gd fmla="val 50000" name="adj"/>
            </a:avLst>
          </a:prstGeom>
          <a:solidFill>
            <a:srgbClr val="FCF9F1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4358487" y="5623560"/>
            <a:ext cx="1673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Cybersecurity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6159855" y="5623560"/>
            <a:ext cx="1673352" cy="384048"/>
          </a:xfrm>
          <a:prstGeom prst="roundRect">
            <a:avLst>
              <a:gd fmla="val 50000" name="adj"/>
            </a:avLst>
          </a:prstGeom>
          <a:solidFill>
            <a:srgbClr val="FCF9F1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6159855" y="5623560"/>
            <a:ext cx="1673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</a:t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7961223" y="5623560"/>
            <a:ext cx="1673352" cy="384048"/>
          </a:xfrm>
          <a:prstGeom prst="roundRect">
            <a:avLst>
              <a:gd fmla="val 50000" name="adj"/>
            </a:avLst>
          </a:prstGeom>
          <a:solidFill>
            <a:srgbClr val="FCF9F1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7961223" y="5623560"/>
            <a:ext cx="1673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UI / UX</a:t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9762591" y="5623560"/>
            <a:ext cx="1673352" cy="384048"/>
          </a:xfrm>
          <a:prstGeom prst="roundRect">
            <a:avLst>
              <a:gd fmla="val 50000" name="adj"/>
            </a:avLst>
          </a:prstGeom>
          <a:solidFill>
            <a:srgbClr val="FCF9F1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9762591" y="5623560"/>
            <a:ext cx="1673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AGENDA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Where We're Headed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502920" y="132588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640080" y="1728215"/>
            <a:ext cx="457200" cy="457200"/>
          </a:xfrm>
          <a:prstGeom prst="ellipse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1280160" y="1737360"/>
            <a:ext cx="9875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Who we are, our values, history &amp; the team behind this proposal</a:t>
            </a:r>
            <a:endParaRPr/>
          </a:p>
        </p:txBody>
      </p:sp>
      <p:cxnSp>
        <p:nvCxnSpPr>
          <p:cNvPr id="119" name="Google Shape;119;p2"/>
          <p:cNvCxnSpPr/>
          <p:nvPr/>
        </p:nvCxnSpPr>
        <p:spPr>
          <a:xfrm>
            <a:off x="1280160" y="2304288"/>
            <a:ext cx="10405872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2"/>
          <p:cNvSpPr/>
          <p:nvPr/>
        </p:nvSpPr>
        <p:spPr>
          <a:xfrm>
            <a:off x="640080" y="2386584"/>
            <a:ext cx="457200" cy="457200"/>
          </a:xfrm>
          <a:prstGeom prst="ellipse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1280160" y="2395728"/>
            <a:ext cx="9875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Simmons Medical Practice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quick snapshot of the practice, and the problem in its own words</a:t>
            </a:r>
            <a:endParaRPr/>
          </a:p>
        </p:txBody>
      </p:sp>
      <p:cxnSp>
        <p:nvCxnSpPr>
          <p:cNvPr id="122" name="Google Shape;122;p2"/>
          <p:cNvCxnSpPr/>
          <p:nvPr/>
        </p:nvCxnSpPr>
        <p:spPr>
          <a:xfrm>
            <a:off x="1280160" y="2962656"/>
            <a:ext cx="10405872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2"/>
          <p:cNvSpPr/>
          <p:nvPr/>
        </p:nvSpPr>
        <p:spPr>
          <a:xfrm>
            <a:off x="640080" y="3044952"/>
            <a:ext cx="457200" cy="457200"/>
          </a:xfrm>
          <a:prstGeom prst="ellipse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1280160" y="3054096"/>
            <a:ext cx="9875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Root Cause Analysis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these problems exist, not just what they are</a:t>
            </a:r>
            <a:endParaRPr/>
          </a:p>
        </p:txBody>
      </p:sp>
      <p:cxnSp>
        <p:nvCxnSpPr>
          <p:cNvPr id="125" name="Google Shape;125;p2"/>
          <p:cNvCxnSpPr/>
          <p:nvPr/>
        </p:nvCxnSpPr>
        <p:spPr>
          <a:xfrm>
            <a:off x="1280160" y="3621023"/>
            <a:ext cx="10405872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2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1280160" y="3712464"/>
            <a:ext cx="9875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ICT Solutions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Six focus areas: network, apps, staff portal, database, security, AI</a:t>
            </a:r>
            <a:endParaRPr/>
          </a:p>
        </p:txBody>
      </p:sp>
      <p:cxnSp>
        <p:nvCxnSpPr>
          <p:cNvPr id="128" name="Google Shape;128;p2"/>
          <p:cNvCxnSpPr/>
          <p:nvPr/>
        </p:nvCxnSpPr>
        <p:spPr>
          <a:xfrm>
            <a:off x="1280160" y="4279392"/>
            <a:ext cx="10405872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2"/>
          <p:cNvSpPr/>
          <p:nvPr/>
        </p:nvSpPr>
        <p:spPr>
          <a:xfrm>
            <a:off x="640080" y="4361688"/>
            <a:ext cx="457200" cy="457200"/>
          </a:xfrm>
          <a:prstGeom prst="ellipse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1280160" y="4370831"/>
            <a:ext cx="9875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Unique Value Propositions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every recommendation was measured against</a:t>
            </a:r>
            <a:endParaRPr/>
          </a:p>
        </p:txBody>
      </p:sp>
      <p:cxnSp>
        <p:nvCxnSpPr>
          <p:cNvPr id="131" name="Google Shape;131;p2"/>
          <p:cNvCxnSpPr/>
          <p:nvPr/>
        </p:nvCxnSpPr>
        <p:spPr>
          <a:xfrm>
            <a:off x="1280160" y="4937759"/>
            <a:ext cx="10405872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2"/>
          <p:cNvSpPr/>
          <p:nvPr/>
        </p:nvSpPr>
        <p:spPr>
          <a:xfrm>
            <a:off x="640080" y="5020056"/>
            <a:ext cx="457200" cy="457200"/>
          </a:xfrm>
          <a:prstGeom prst="ellipse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1280160" y="5029200"/>
            <a:ext cx="9875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Accounting Modernisation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Xero, bank feeds &amp; monthly reconciliation</a:t>
            </a:r>
            <a:endParaRPr/>
          </a:p>
        </p:txBody>
      </p:sp>
      <p:cxnSp>
        <p:nvCxnSpPr>
          <p:cNvPr id="134" name="Google Shape;134;p2"/>
          <p:cNvCxnSpPr/>
          <p:nvPr/>
        </p:nvCxnSpPr>
        <p:spPr>
          <a:xfrm>
            <a:off x="1280160" y="5596128"/>
            <a:ext cx="10405872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2"/>
          <p:cNvSpPr/>
          <p:nvPr/>
        </p:nvSpPr>
        <p:spPr>
          <a:xfrm>
            <a:off x="640080" y="5678424"/>
            <a:ext cx="457200" cy="457200"/>
          </a:xfrm>
          <a:prstGeom prst="ellipse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1280160" y="5687568"/>
            <a:ext cx="9875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Management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Timeline, procurement, budget &amp; next steps</a:t>
            </a:r>
            <a:endParaRPr/>
          </a:p>
        </p:txBody>
      </p:sp>
      <p:cxnSp>
        <p:nvCxnSpPr>
          <p:cNvPr id="137" name="Google Shape;137;p2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138" name="Google Shape;1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Agenda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/ 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Who We Are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502920" y="13258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Built to deliver exactly this: combined IT and accounting for medical practices</a:t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502920" y="169164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3"/>
          <p:cNvCxnSpPr/>
          <p:nvPr/>
        </p:nvCxnSpPr>
        <p:spPr>
          <a:xfrm rot="10800000">
            <a:off x="2331720" y="2286000"/>
            <a:ext cx="0" cy="1463039"/>
          </a:xfrm>
          <a:prstGeom prst="straightConnector1">
            <a:avLst/>
          </a:prstGeom>
          <a:noFill/>
          <a:ln cap="flat" cmpd="sng" w="1905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3"/>
          <p:cNvCxnSpPr/>
          <p:nvPr/>
        </p:nvCxnSpPr>
        <p:spPr>
          <a:xfrm flipH="1">
            <a:off x="1097280" y="3749039"/>
            <a:ext cx="1234440" cy="1051561"/>
          </a:xfrm>
          <a:prstGeom prst="straightConnector1">
            <a:avLst/>
          </a:prstGeom>
          <a:noFill/>
          <a:ln cap="flat" cmpd="sng" w="1905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3"/>
          <p:cNvCxnSpPr/>
          <p:nvPr/>
        </p:nvCxnSpPr>
        <p:spPr>
          <a:xfrm>
            <a:off x="2331720" y="3749039"/>
            <a:ext cx="1234440" cy="1051561"/>
          </a:xfrm>
          <a:prstGeom prst="straightConnector1">
            <a:avLst/>
          </a:prstGeom>
          <a:noFill/>
          <a:ln cap="flat" cmpd="sng" w="1905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3"/>
          <p:cNvSpPr/>
          <p:nvPr/>
        </p:nvSpPr>
        <p:spPr>
          <a:xfrm>
            <a:off x="1714499" y="3131820"/>
            <a:ext cx="1234440" cy="1234440"/>
          </a:xfrm>
          <a:prstGeom prst="ellipse">
            <a:avLst/>
          </a:prstGeom>
          <a:solidFill>
            <a:srgbClr val="2F8577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Partners</a:t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1783079" y="1737360"/>
            <a:ext cx="1097280" cy="1097280"/>
          </a:xfrm>
          <a:prstGeom prst="ellipse">
            <a:avLst/>
          </a:prstGeom>
          <a:solidFill>
            <a:srgbClr val="D9754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 &amp;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</a:t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548640" y="4251960"/>
            <a:ext cx="1097280" cy="1097280"/>
          </a:xfrm>
          <a:prstGeom prst="ellipse">
            <a:avLst/>
          </a:prstGeom>
          <a:solidFill>
            <a:srgbClr val="B9822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Accounting</a:t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3017520" y="4251960"/>
            <a:ext cx="1097280" cy="1097280"/>
          </a:xfrm>
          <a:prstGeom prst="ellipse">
            <a:avLst/>
          </a:prstGeom>
          <a:solidFill>
            <a:srgbClr val="3AAFA9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Advisory</a:t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4892040" y="1783080"/>
            <a:ext cx="3063240" cy="14173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5020055" y="1911095"/>
            <a:ext cx="512064" cy="512064"/>
          </a:xfrm>
          <a:prstGeom prst="ellipse">
            <a:avLst/>
          </a:prstGeom>
          <a:solidFill>
            <a:srgbClr val="2F8577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5641848" y="1929384"/>
            <a:ext cx="21488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&amp; Cloud Security Certified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Recognised certifications across our technical team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8183879" y="1783080"/>
            <a:ext cx="3063240" cy="14173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8311896" y="1911095"/>
            <a:ext cx="512064" cy="512064"/>
          </a:xfrm>
          <a:prstGeom prst="ellipse">
            <a:avLst/>
          </a:prstGeom>
          <a:solidFill>
            <a:srgbClr val="D9754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</a:t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8933688" y="1929384"/>
            <a:ext cx="21488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CPA-Qualified Accountants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In-house, not outsourced</a:t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4892040" y="3429000"/>
            <a:ext cx="3063240" cy="14173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5020055" y="3557015"/>
            <a:ext cx="512064" cy="512064"/>
          </a:xfrm>
          <a:prstGeom prst="ellipse">
            <a:avLst/>
          </a:prstGeom>
          <a:solidFill>
            <a:srgbClr val="B9822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5641848" y="3575304"/>
            <a:ext cx="21488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Team, Not Two Vendors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 and accounting under a single point of contact</a:t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8183879" y="3429000"/>
            <a:ext cx="3063240" cy="14173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8311896" y="3557015"/>
            <a:ext cx="512064" cy="512064"/>
          </a:xfrm>
          <a:prstGeom prst="ellipse">
            <a:avLst/>
          </a:prstGeom>
          <a:solidFill>
            <a:srgbClr val="3AAFA9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8933688" y="3575304"/>
            <a:ext cx="21488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Built for Medical Practices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Already supporting general &amp; allied health clinics</a:t>
            </a: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502920" y="5669280"/>
            <a:ext cx="11183111" cy="502920"/>
          </a:xfrm>
          <a:prstGeom prst="roundRect">
            <a:avLst>
              <a:gd fmla="val 12000" name="adj"/>
            </a:avLst>
          </a:prstGeom>
          <a:solidFill>
            <a:srgbClr val="E4F1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bc_partners_logo_icon.png" id="171" name="Google Shape;1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742432"/>
            <a:ext cx="379060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"/>
          <p:cNvSpPr txBox="1"/>
          <p:nvPr/>
        </p:nvSpPr>
        <p:spPr>
          <a:xfrm>
            <a:off x="1143000" y="566928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SLOGAN</a:t>
            </a:r>
            <a:endParaRPr/>
          </a:p>
        </p:txBody>
      </p:sp>
      <p:sp>
        <p:nvSpPr>
          <p:cNvPr id="173" name="Google Shape;173;p3"/>
          <p:cNvSpPr txBox="1"/>
          <p:nvPr/>
        </p:nvSpPr>
        <p:spPr>
          <a:xfrm>
            <a:off x="502920" y="5669280"/>
            <a:ext cx="10908791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Managed IT &amp; Financial Partnership</a:t>
            </a:r>
            <a:endParaRPr/>
          </a:p>
        </p:txBody>
      </p:sp>
      <p:cxnSp>
        <p:nvCxnSpPr>
          <p:cNvPr id="174" name="Google Shape;174;p3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175" name="Google Shape;17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177" name="Google Shape;177;p3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</a:t>
            </a:r>
            <a:endParaRPr/>
          </a:p>
        </p:txBody>
      </p:sp>
      <p:sp>
        <p:nvSpPr>
          <p:cNvPr id="178" name="Google Shape;178;p3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/ 26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Team Behind This Proposal</a:t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502920" y="132588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502920" y="1828800"/>
            <a:ext cx="3520440" cy="1874519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1828800" y="1943100"/>
            <a:ext cx="868680" cy="868680"/>
          </a:xfrm>
          <a:prstGeom prst="ellipse">
            <a:avLst/>
          </a:prstGeom>
          <a:solidFill>
            <a:srgbClr val="2F857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2019909" y="2551176"/>
            <a:ext cx="486460" cy="34747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2132838" y="2108149"/>
            <a:ext cx="260603" cy="2606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2098090" y="2351379"/>
            <a:ext cx="86868" cy="86868"/>
          </a:xfrm>
          <a:prstGeom prst="ellipse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2341321" y="2351379"/>
            <a:ext cx="86868" cy="86868"/>
          </a:xfrm>
          <a:prstGeom prst="ellipse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640080" y="2852928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Narottam</a:t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640080" y="3127248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Leader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640080" y="33832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 relationship, scope &amp; delivery</a:t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4251959" y="1828800"/>
            <a:ext cx="3520440" cy="1874519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5577840" y="1943100"/>
            <a:ext cx="868680" cy="868680"/>
          </a:xfrm>
          <a:prstGeom prst="ellipse">
            <a:avLst/>
          </a:prstGeom>
          <a:solidFill>
            <a:srgbClr val="D97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5795009" y="2047341"/>
            <a:ext cx="434340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5760262" y="2516428"/>
            <a:ext cx="503834" cy="41696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5881877" y="2108149"/>
            <a:ext cx="260603" cy="2606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 txBox="1"/>
          <p:nvPr/>
        </p:nvSpPr>
        <p:spPr>
          <a:xfrm>
            <a:off x="4389120" y="2852928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Divya</a:t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4389120" y="3127248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Engineer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4389120" y="33832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Infrastructure, connectivity &amp; Wi-Fi</a:t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8001000" y="1828800"/>
            <a:ext cx="3520440" cy="1874519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9326880" y="1943100"/>
            <a:ext cx="868680" cy="868680"/>
          </a:xfrm>
          <a:prstGeom prst="ellipse">
            <a:avLst/>
          </a:prstGeom>
          <a:solidFill>
            <a:srgbClr val="B9822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9517989" y="2551176"/>
            <a:ext cx="486460" cy="347472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9630918" y="2108149"/>
            <a:ext cx="260603" cy="2606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9596170" y="2351379"/>
            <a:ext cx="86868" cy="86868"/>
          </a:xfrm>
          <a:prstGeom prst="ellipse">
            <a:avLst/>
          </a:prstGeom>
          <a:solidFill>
            <a:srgbClr val="B982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9839401" y="2351379"/>
            <a:ext cx="86868" cy="86868"/>
          </a:xfrm>
          <a:prstGeom prst="ellipse">
            <a:avLst/>
          </a:prstGeom>
          <a:solidFill>
            <a:srgbClr val="B982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8138160" y="2852928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Siddhanth</a:t>
            </a:r>
            <a:endParaRPr/>
          </a:p>
        </p:txBody>
      </p:sp>
      <p:sp>
        <p:nvSpPr>
          <p:cNvPr id="211" name="Google Shape;211;p4"/>
          <p:cNvSpPr txBox="1"/>
          <p:nvPr/>
        </p:nvSpPr>
        <p:spPr>
          <a:xfrm>
            <a:off x="8138160" y="3127248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Cybersecurity</a:t>
            </a:r>
            <a:endParaRPr/>
          </a:p>
        </p:txBody>
      </p:sp>
      <p:sp>
        <p:nvSpPr>
          <p:cNvPr id="212" name="Google Shape;212;p4"/>
          <p:cNvSpPr txBox="1"/>
          <p:nvPr/>
        </p:nvSpPr>
        <p:spPr>
          <a:xfrm>
            <a:off x="8138160" y="33832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Access control, backup &amp; compliance</a:t>
            </a:r>
            <a:endParaRPr/>
          </a:p>
        </p:txBody>
      </p:sp>
      <p:sp>
        <p:nvSpPr>
          <p:cNvPr id="213" name="Google Shape;213;p4"/>
          <p:cNvSpPr/>
          <p:nvPr/>
        </p:nvSpPr>
        <p:spPr>
          <a:xfrm>
            <a:off x="502920" y="3931920"/>
            <a:ext cx="3520440" cy="1874519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1828800" y="4046220"/>
            <a:ext cx="868680" cy="868680"/>
          </a:xfrm>
          <a:prstGeom prst="ellipse">
            <a:avLst/>
          </a:prstGeom>
          <a:solidFill>
            <a:srgbClr val="3AAFA9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2045970" y="4150461"/>
            <a:ext cx="434340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2011222" y="4619548"/>
            <a:ext cx="503834" cy="41696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2132838" y="4211269"/>
            <a:ext cx="260603" cy="2606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640080" y="4956048"/>
            <a:ext cx="3246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</a:t>
            </a:r>
            <a:r>
              <a:rPr b="1" lang="en-US" sz="1450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atemeh</a:t>
            </a:r>
            <a:endParaRPr/>
          </a:p>
        </p:txBody>
      </p:sp>
      <p:sp>
        <p:nvSpPr>
          <p:cNvPr id="219" name="Google Shape;219;p4"/>
          <p:cNvSpPr txBox="1"/>
          <p:nvPr/>
        </p:nvSpPr>
        <p:spPr>
          <a:xfrm>
            <a:off x="640080" y="5230368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 Developer</a:t>
            </a:r>
            <a:endParaRPr/>
          </a:p>
        </p:txBody>
      </p:sp>
      <p:sp>
        <p:nvSpPr>
          <p:cNvPr id="220" name="Google Shape;220;p4"/>
          <p:cNvSpPr txBox="1"/>
          <p:nvPr/>
        </p:nvSpPr>
        <p:spPr>
          <a:xfrm>
            <a:off x="640080" y="548640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layer, integration &amp; API design</a:t>
            </a:r>
            <a:endParaRPr/>
          </a:p>
        </p:txBody>
      </p:sp>
      <p:sp>
        <p:nvSpPr>
          <p:cNvPr id="221" name="Google Shape;221;p4"/>
          <p:cNvSpPr/>
          <p:nvPr/>
        </p:nvSpPr>
        <p:spPr>
          <a:xfrm>
            <a:off x="4251959" y="3931920"/>
            <a:ext cx="3520440" cy="1874519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5577840" y="4046220"/>
            <a:ext cx="868680" cy="868680"/>
          </a:xfrm>
          <a:prstGeom prst="ellipse">
            <a:avLst/>
          </a:prstGeom>
          <a:solidFill>
            <a:srgbClr val="B549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5795009" y="4150461"/>
            <a:ext cx="434340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5760262" y="4619548"/>
            <a:ext cx="503834" cy="41696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5881877" y="4211269"/>
            <a:ext cx="260603" cy="2606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"/>
          <p:cNvSpPr txBox="1"/>
          <p:nvPr/>
        </p:nvSpPr>
        <p:spPr>
          <a:xfrm>
            <a:off x="4389120" y="4956048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Parneet</a:t>
            </a:r>
            <a:endParaRPr/>
          </a:p>
        </p:txBody>
      </p:sp>
      <p:sp>
        <p:nvSpPr>
          <p:cNvPr id="227" name="Google Shape;227;p4"/>
          <p:cNvSpPr txBox="1"/>
          <p:nvPr/>
        </p:nvSpPr>
        <p:spPr>
          <a:xfrm>
            <a:off x="4389120" y="5230368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UI / UX Designer</a:t>
            </a:r>
            <a:endParaRPr/>
          </a:p>
        </p:txBody>
      </p:sp>
      <p:sp>
        <p:nvSpPr>
          <p:cNvPr id="228" name="Google Shape;228;p4"/>
          <p:cNvSpPr txBox="1"/>
          <p:nvPr/>
        </p:nvSpPr>
        <p:spPr>
          <a:xfrm>
            <a:off x="4389120" y="548640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Patient &amp; staff experience design</a:t>
            </a:r>
            <a:endParaRPr/>
          </a:p>
        </p:txBody>
      </p:sp>
      <p:sp>
        <p:nvSpPr>
          <p:cNvPr id="229" name="Google Shape;229;p4"/>
          <p:cNvSpPr/>
          <p:nvPr/>
        </p:nvSpPr>
        <p:spPr>
          <a:xfrm>
            <a:off x="8001000" y="3931920"/>
            <a:ext cx="3520440" cy="1874519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9326880" y="4046220"/>
            <a:ext cx="868680" cy="868680"/>
          </a:xfrm>
          <a:prstGeom prst="ellipse">
            <a:avLst/>
          </a:prstGeom>
          <a:solidFill>
            <a:srgbClr val="2F857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9544050" y="4150461"/>
            <a:ext cx="434340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9509302" y="4619548"/>
            <a:ext cx="503834" cy="41696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9630918" y="4211269"/>
            <a:ext cx="260603" cy="26060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 txBox="1"/>
          <p:nvPr/>
        </p:nvSpPr>
        <p:spPr>
          <a:xfrm>
            <a:off x="8138160" y="4956048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Kiran</a:t>
            </a:r>
            <a:endParaRPr/>
          </a:p>
        </p:txBody>
      </p:sp>
      <p:sp>
        <p:nvSpPr>
          <p:cNvPr id="235" name="Google Shape;235;p4"/>
          <p:cNvSpPr txBox="1"/>
          <p:nvPr/>
        </p:nvSpPr>
        <p:spPr>
          <a:xfrm>
            <a:off x="8138160" y="5230368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</a:t>
            </a:r>
            <a:endParaRPr/>
          </a:p>
        </p:txBody>
      </p:sp>
      <p:sp>
        <p:nvSpPr>
          <p:cNvPr id="236" name="Google Shape;236;p4"/>
          <p:cNvSpPr txBox="1"/>
          <p:nvPr/>
        </p:nvSpPr>
        <p:spPr>
          <a:xfrm>
            <a:off x="8138160" y="548640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Applied AI &amp; automation features</a:t>
            </a:r>
            <a:endParaRPr/>
          </a:p>
        </p:txBody>
      </p:sp>
      <p:cxnSp>
        <p:nvCxnSpPr>
          <p:cNvPr id="237" name="Google Shape;237;p4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238" name="Google Shape;2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4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240" name="Google Shape;240;p4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· Team</a:t>
            </a:r>
            <a:endParaRPr/>
          </a:p>
        </p:txBody>
      </p:sp>
      <p:sp>
        <p:nvSpPr>
          <p:cNvPr id="241" name="Google Shape;241;p4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/ 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SIMMONS MEDICAL PRACTICE</a:t>
            </a:r>
            <a:endParaRPr/>
          </a:p>
        </p:txBody>
      </p:sp>
      <p:sp>
        <p:nvSpPr>
          <p:cNvPr id="248" name="Google Shape;248;p5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About Simmons Medical Practice</a:t>
            </a:r>
            <a:endParaRPr/>
          </a:p>
        </p:txBody>
      </p:sp>
      <p:sp>
        <p:nvSpPr>
          <p:cNvPr id="249" name="Google Shape;249;p5"/>
          <p:cNvSpPr txBox="1"/>
          <p:nvPr/>
        </p:nvSpPr>
        <p:spPr>
          <a:xfrm>
            <a:off x="502920" y="13258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 Grafton Street, Toowong QLD 4066</a:t>
            </a:r>
            <a:endParaRPr/>
          </a:p>
        </p:txBody>
      </p:sp>
      <p:sp>
        <p:nvSpPr>
          <p:cNvPr id="250" name="Google Shape;250;p5"/>
          <p:cNvSpPr/>
          <p:nvPr/>
        </p:nvSpPr>
        <p:spPr>
          <a:xfrm>
            <a:off x="502920" y="169164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502920" y="1965960"/>
            <a:ext cx="3520440" cy="1417320"/>
          </a:xfrm>
          <a:prstGeom prst="roundRect">
            <a:avLst>
              <a:gd fmla="val 9000" name="adj"/>
            </a:avLst>
          </a:prstGeom>
          <a:solidFill>
            <a:srgbClr val="FCF9F1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Full-time GPs</a:t>
            </a:r>
            <a:endParaRPr/>
          </a:p>
        </p:txBody>
      </p:sp>
      <p:sp>
        <p:nvSpPr>
          <p:cNvPr id="252" name="Google Shape;252;p5"/>
          <p:cNvSpPr/>
          <p:nvPr/>
        </p:nvSpPr>
        <p:spPr>
          <a:xfrm>
            <a:off x="4251959" y="1965960"/>
            <a:ext cx="3520440" cy="1417320"/>
          </a:xfrm>
          <a:prstGeom prst="roundRect">
            <a:avLst>
              <a:gd fmla="val 9000" name="adj"/>
            </a:avLst>
          </a:prstGeom>
          <a:solidFill>
            <a:srgbClr val="FCF9F1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Visiting skin specialist (weekly)</a:t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8001000" y="1965960"/>
            <a:ext cx="3520440" cy="1417320"/>
          </a:xfrm>
          <a:prstGeom prst="roundRect">
            <a:avLst>
              <a:gd fmla="val 9000" name="adj"/>
            </a:avLst>
          </a:prstGeom>
          <a:solidFill>
            <a:srgbClr val="FCF9F1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Reception staff (1 FT + 1 PT)</a:t>
            </a:r>
            <a:endParaRPr/>
          </a:p>
        </p:txBody>
      </p:sp>
      <p:sp>
        <p:nvSpPr>
          <p:cNvPr id="254" name="Google Shape;254;p5"/>
          <p:cNvSpPr/>
          <p:nvPr/>
        </p:nvSpPr>
        <p:spPr>
          <a:xfrm>
            <a:off x="502920" y="3611880"/>
            <a:ext cx="3520440" cy="1417320"/>
          </a:xfrm>
          <a:prstGeom prst="roundRect">
            <a:avLst>
              <a:gd fmla="val 9000" name="adj"/>
            </a:avLst>
          </a:prstGeom>
          <a:solidFill>
            <a:srgbClr val="FCF9F1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Nursing staff (1 FT + 1 PT)</a:t>
            </a:r>
            <a:endParaRPr/>
          </a:p>
        </p:txBody>
      </p:sp>
      <p:sp>
        <p:nvSpPr>
          <p:cNvPr id="255" name="Google Shape;255;p5"/>
          <p:cNvSpPr/>
          <p:nvPr/>
        </p:nvSpPr>
        <p:spPr>
          <a:xfrm>
            <a:off x="4251959" y="3611880"/>
            <a:ext cx="3520440" cy="1417320"/>
          </a:xfrm>
          <a:prstGeom prst="roundRect">
            <a:avLst>
              <a:gd fmla="val 9000" name="adj"/>
            </a:avLst>
          </a:prstGeom>
          <a:solidFill>
            <a:srgbClr val="FCF9F1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100%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Bulk-billed patient base</a:t>
            </a: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8001000" y="3611880"/>
            <a:ext cx="3520440" cy="1417320"/>
          </a:xfrm>
          <a:prstGeom prst="roundRect">
            <a:avLst>
              <a:gd fmla="val 9000" name="adj"/>
            </a:avLst>
          </a:prstGeom>
          <a:solidFill>
            <a:srgbClr val="FBEAE1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549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mo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Until current IT contract ends</a:t>
            </a:r>
            <a:endParaRPr/>
          </a:p>
        </p:txBody>
      </p:sp>
      <p:cxnSp>
        <p:nvCxnSpPr>
          <p:cNvPr id="257" name="Google Shape;257;p5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258" name="Google Shape;2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5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260" name="Google Shape;260;p5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Simmons Medical Practice</a:t>
            </a:r>
            <a:endParaRPr/>
          </a:p>
        </p:txBody>
      </p:sp>
      <p:sp>
        <p:nvSpPr>
          <p:cNvPr id="261" name="Google Shape;261;p5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/ 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SIMMONS MEDICAL PRACTICE</a:t>
            </a:r>
            <a:endParaRPr/>
          </a:p>
        </p:txBody>
      </p:sp>
      <p:sp>
        <p:nvSpPr>
          <p:cNvPr id="268" name="Google Shape;268;p6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SMP Problem Analysis</a:t>
            </a:r>
            <a:endParaRPr/>
          </a:p>
        </p:txBody>
      </p:sp>
      <p:sp>
        <p:nvSpPr>
          <p:cNvPr id="269" name="Google Shape;269;p6"/>
          <p:cNvSpPr txBox="1"/>
          <p:nvPr/>
        </p:nvSpPr>
        <p:spPr>
          <a:xfrm>
            <a:off x="502920" y="13258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Information provided directly by Dr Simmons</a:t>
            </a: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502920" y="169164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612647" y="1810511"/>
            <a:ext cx="512064" cy="512064"/>
          </a:xfrm>
          <a:prstGeom prst="ellipse">
            <a:avLst/>
          </a:prstGeom>
          <a:solidFill>
            <a:srgbClr val="D9754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272" name="Google Shape;272;p6"/>
          <p:cNvSpPr txBox="1"/>
          <p:nvPr/>
        </p:nvSpPr>
        <p:spPr>
          <a:xfrm>
            <a:off x="1325880" y="1783080"/>
            <a:ext cx="98298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Ageing, Unreliable Network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Outages hit reception, consulting rooms and the visiting specialist's room alike — bulk-billing claims can fail mid-consult when the connection drops.</a:t>
            </a:r>
            <a:endParaRPr/>
          </a:p>
        </p:txBody>
      </p:sp>
      <p:cxnSp>
        <p:nvCxnSpPr>
          <p:cNvPr id="273" name="Google Shape;273;p6"/>
          <p:cNvCxnSpPr/>
          <p:nvPr/>
        </p:nvCxnSpPr>
        <p:spPr>
          <a:xfrm>
            <a:off x="1325880" y="2551176"/>
            <a:ext cx="10360152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6"/>
          <p:cNvSpPr/>
          <p:nvPr/>
        </p:nvSpPr>
        <p:spPr>
          <a:xfrm>
            <a:off x="612647" y="2651760"/>
            <a:ext cx="512064" cy="512064"/>
          </a:xfrm>
          <a:prstGeom prst="ellipse">
            <a:avLst/>
          </a:prstGeom>
          <a:solidFill>
            <a:srgbClr val="D9754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275" name="Google Shape;275;p6"/>
          <p:cNvSpPr txBox="1"/>
          <p:nvPr/>
        </p:nvSpPr>
        <p:spPr>
          <a:xfrm>
            <a:off x="1325880" y="2624328"/>
            <a:ext cx="98298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 Contract Ending in 1 Month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current support arrangement concludes within weeks, leaving a hard deadline to transition without disrupting patients or staff.</a:t>
            </a:r>
            <a:endParaRPr/>
          </a:p>
        </p:txBody>
      </p:sp>
      <p:cxnSp>
        <p:nvCxnSpPr>
          <p:cNvPr id="276" name="Google Shape;276;p6"/>
          <p:cNvCxnSpPr/>
          <p:nvPr/>
        </p:nvCxnSpPr>
        <p:spPr>
          <a:xfrm>
            <a:off x="1325880" y="3392424"/>
            <a:ext cx="10360152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6"/>
          <p:cNvSpPr/>
          <p:nvPr/>
        </p:nvSpPr>
        <p:spPr>
          <a:xfrm>
            <a:off x="612647" y="3493007"/>
            <a:ext cx="512064" cy="512064"/>
          </a:xfrm>
          <a:prstGeom prst="ellipse">
            <a:avLst/>
          </a:prstGeom>
          <a:solidFill>
            <a:srgbClr val="D9754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278" name="Google Shape;278;p6"/>
          <p:cNvSpPr txBox="1"/>
          <p:nvPr/>
        </p:nvSpPr>
        <p:spPr>
          <a:xfrm>
            <a:off x="1325880" y="3465576"/>
            <a:ext cx="98298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Disconnected Accounting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Accounting software sits apart from the patient management system, duplicating data entry for billing and reconciliation.</a:t>
            </a:r>
            <a:endParaRPr/>
          </a:p>
        </p:txBody>
      </p:sp>
      <p:cxnSp>
        <p:nvCxnSpPr>
          <p:cNvPr id="279" name="Google Shape;279;p6"/>
          <p:cNvCxnSpPr/>
          <p:nvPr/>
        </p:nvCxnSpPr>
        <p:spPr>
          <a:xfrm>
            <a:off x="1325880" y="4233672"/>
            <a:ext cx="10360152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6"/>
          <p:cNvSpPr/>
          <p:nvPr/>
        </p:nvSpPr>
        <p:spPr>
          <a:xfrm>
            <a:off x="612647" y="4334255"/>
            <a:ext cx="512064" cy="512064"/>
          </a:xfrm>
          <a:prstGeom prst="ellipse">
            <a:avLst/>
          </a:prstGeom>
          <a:solidFill>
            <a:srgbClr val="D9754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281" name="Google Shape;281;p6"/>
          <p:cNvSpPr txBox="1"/>
          <p:nvPr/>
        </p:nvSpPr>
        <p:spPr>
          <a:xfrm>
            <a:off x="1325880" y="4306824"/>
            <a:ext cx="98298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Automated Reminders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patient management system can't trigger SMS/email reminders, contributing to avoidable missed appointments.</a:t>
            </a:r>
            <a:endParaRPr/>
          </a:p>
        </p:txBody>
      </p:sp>
      <p:cxnSp>
        <p:nvCxnSpPr>
          <p:cNvPr id="282" name="Google Shape;282;p6"/>
          <p:cNvCxnSpPr/>
          <p:nvPr/>
        </p:nvCxnSpPr>
        <p:spPr>
          <a:xfrm>
            <a:off x="1325880" y="5074920"/>
            <a:ext cx="10360152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6"/>
          <p:cNvSpPr/>
          <p:nvPr/>
        </p:nvSpPr>
        <p:spPr>
          <a:xfrm>
            <a:off x="612647" y="5175503"/>
            <a:ext cx="512064" cy="512064"/>
          </a:xfrm>
          <a:prstGeom prst="ellipse">
            <a:avLst/>
          </a:prstGeom>
          <a:solidFill>
            <a:srgbClr val="D9754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284" name="Google Shape;284;p6"/>
          <p:cNvSpPr txBox="1"/>
          <p:nvPr/>
        </p:nvSpPr>
        <p:spPr>
          <a:xfrm>
            <a:off x="1325880" y="5148072"/>
            <a:ext cx="98298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Proactive Technology Advice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Investment decisions are reactive rather than planned — there's no standing forum for forward-looking guidance.</a:t>
            </a:r>
            <a:endParaRPr/>
          </a:p>
        </p:txBody>
      </p:sp>
      <p:cxnSp>
        <p:nvCxnSpPr>
          <p:cNvPr id="285" name="Google Shape;285;p6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286" name="Google Shape;2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6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288" name="Google Shape;288;p6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Analysis</a:t>
            </a:r>
            <a:endParaRPr/>
          </a:p>
        </p:txBody>
      </p:sp>
      <p:sp>
        <p:nvSpPr>
          <p:cNvPr id="289" name="Google Shape;289;p6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 / 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ROOT CAUSE ANALYSIS</a:t>
            </a:r>
            <a:endParaRPr/>
          </a:p>
        </p:txBody>
      </p:sp>
      <p:sp>
        <p:nvSpPr>
          <p:cNvPr id="296" name="Google Shape;296;p7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These Problems Exist</a:t>
            </a:r>
            <a:endParaRPr/>
          </a:p>
        </p:txBody>
      </p:sp>
      <p:sp>
        <p:nvSpPr>
          <p:cNvPr id="297" name="Google Shape;297;p7"/>
          <p:cNvSpPr txBox="1"/>
          <p:nvPr/>
        </p:nvSpPr>
        <p:spPr>
          <a:xfrm>
            <a:off x="502920" y="13258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Fishbone (Ishikawa) diagram, grouped by root cause</a:t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502920" y="169164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7"/>
          <p:cNvCxnSpPr/>
          <p:nvPr/>
        </p:nvCxnSpPr>
        <p:spPr>
          <a:xfrm>
            <a:off x="914400" y="4023360"/>
            <a:ext cx="8001000" cy="0"/>
          </a:xfrm>
          <a:prstGeom prst="straightConnector1">
            <a:avLst/>
          </a:prstGeom>
          <a:noFill/>
          <a:ln cap="flat" cmpd="sng" w="31750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7"/>
          <p:cNvCxnSpPr/>
          <p:nvPr/>
        </p:nvCxnSpPr>
        <p:spPr>
          <a:xfrm>
            <a:off x="8915400" y="4023360"/>
            <a:ext cx="228600" cy="0"/>
          </a:xfrm>
          <a:prstGeom prst="straightConnector1">
            <a:avLst/>
          </a:prstGeom>
          <a:noFill/>
          <a:ln cap="flat" cmpd="sng" w="31750">
            <a:solidFill>
              <a:srgbClr val="362E27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01" name="Google Shape;301;p7"/>
          <p:cNvSpPr/>
          <p:nvPr/>
        </p:nvSpPr>
        <p:spPr>
          <a:xfrm>
            <a:off x="9052560" y="3520440"/>
            <a:ext cx="2423160" cy="1005840"/>
          </a:xfrm>
          <a:prstGeom prst="roundRect">
            <a:avLst>
              <a:gd fmla="val 12000" name="adj"/>
            </a:avLst>
          </a:prstGeom>
          <a:solidFill>
            <a:srgbClr val="B5493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Simmons Medical Practice's Systems Can't Keep Pace With Growth</a:t>
            </a:r>
            <a:endParaRPr/>
          </a:p>
        </p:txBody>
      </p:sp>
      <p:cxnSp>
        <p:nvCxnSpPr>
          <p:cNvPr id="302" name="Google Shape;302;p7"/>
          <p:cNvCxnSpPr/>
          <p:nvPr/>
        </p:nvCxnSpPr>
        <p:spPr>
          <a:xfrm>
            <a:off x="777240" y="2103120"/>
            <a:ext cx="1874520" cy="1920240"/>
          </a:xfrm>
          <a:prstGeom prst="straightConnector1">
            <a:avLst/>
          </a:prstGeom>
          <a:noFill/>
          <a:ln cap="flat" cmpd="sng" w="31750">
            <a:solidFill>
              <a:srgbClr val="2F857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7"/>
          <p:cNvSpPr txBox="1"/>
          <p:nvPr/>
        </p:nvSpPr>
        <p:spPr>
          <a:xfrm>
            <a:off x="502920" y="1792223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Technology</a:t>
            </a:r>
            <a:endParaRPr/>
          </a:p>
        </p:txBody>
      </p:sp>
      <p:cxnSp>
        <p:nvCxnSpPr>
          <p:cNvPr id="304" name="Google Shape;304;p7"/>
          <p:cNvCxnSpPr/>
          <p:nvPr/>
        </p:nvCxnSpPr>
        <p:spPr>
          <a:xfrm flipH="1" rot="10800000">
            <a:off x="1489557" y="2628413"/>
            <a:ext cx="209383" cy="204398"/>
          </a:xfrm>
          <a:prstGeom prst="straightConnector1">
            <a:avLst/>
          </a:prstGeom>
          <a:noFill/>
          <a:ln cap="flat" cmpd="sng" w="15875">
            <a:solidFill>
              <a:srgbClr val="2F857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7"/>
          <p:cNvSpPr txBox="1"/>
          <p:nvPr/>
        </p:nvSpPr>
        <p:spPr>
          <a:xfrm>
            <a:off x="1366638" y="2011189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Ageing network hardware</a:t>
            </a:r>
            <a:endParaRPr/>
          </a:p>
        </p:txBody>
      </p:sp>
      <p:cxnSp>
        <p:nvCxnSpPr>
          <p:cNvPr id="306" name="Google Shape;306;p7"/>
          <p:cNvCxnSpPr/>
          <p:nvPr/>
        </p:nvCxnSpPr>
        <p:spPr>
          <a:xfrm flipH="1" rot="10800000">
            <a:off x="1864461" y="3012461"/>
            <a:ext cx="209383" cy="204398"/>
          </a:xfrm>
          <a:prstGeom prst="straightConnector1">
            <a:avLst/>
          </a:prstGeom>
          <a:noFill/>
          <a:ln cap="flat" cmpd="sng" w="15875">
            <a:solidFill>
              <a:srgbClr val="2F857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7"/>
          <p:cNvSpPr txBox="1"/>
          <p:nvPr/>
        </p:nvSpPr>
        <p:spPr>
          <a:xfrm>
            <a:off x="1741542" y="2395237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Disconnected PMS &amp; accounting software</a:t>
            </a:r>
            <a:endParaRPr/>
          </a:p>
        </p:txBody>
      </p:sp>
      <p:cxnSp>
        <p:nvCxnSpPr>
          <p:cNvPr id="308" name="Google Shape;308;p7"/>
          <p:cNvCxnSpPr/>
          <p:nvPr/>
        </p:nvCxnSpPr>
        <p:spPr>
          <a:xfrm flipH="1" rot="10800000">
            <a:off x="2239365" y="3396509"/>
            <a:ext cx="209383" cy="204398"/>
          </a:xfrm>
          <a:prstGeom prst="straightConnector1">
            <a:avLst/>
          </a:prstGeom>
          <a:noFill/>
          <a:ln cap="flat" cmpd="sng" w="15875">
            <a:solidFill>
              <a:srgbClr val="2F857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7"/>
          <p:cNvSpPr txBox="1"/>
          <p:nvPr/>
        </p:nvSpPr>
        <p:spPr>
          <a:xfrm>
            <a:off x="2116446" y="2779285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automated patient reminders</a:t>
            </a:r>
            <a:endParaRPr/>
          </a:p>
        </p:txBody>
      </p:sp>
      <p:cxnSp>
        <p:nvCxnSpPr>
          <p:cNvPr id="310" name="Google Shape;310;p7"/>
          <p:cNvCxnSpPr/>
          <p:nvPr/>
        </p:nvCxnSpPr>
        <p:spPr>
          <a:xfrm>
            <a:off x="3337560" y="2103120"/>
            <a:ext cx="2057400" cy="1920240"/>
          </a:xfrm>
          <a:prstGeom prst="straightConnector1">
            <a:avLst/>
          </a:prstGeom>
          <a:noFill/>
          <a:ln cap="flat" cmpd="sng" w="31750">
            <a:solidFill>
              <a:srgbClr val="D975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7"/>
          <p:cNvSpPr txBox="1"/>
          <p:nvPr/>
        </p:nvSpPr>
        <p:spPr>
          <a:xfrm>
            <a:off x="3063240" y="1792223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</a:t>
            </a:r>
            <a:endParaRPr/>
          </a:p>
        </p:txBody>
      </p:sp>
      <p:cxnSp>
        <p:nvCxnSpPr>
          <p:cNvPr id="312" name="Google Shape;312;p7"/>
          <p:cNvCxnSpPr/>
          <p:nvPr/>
        </p:nvCxnSpPr>
        <p:spPr>
          <a:xfrm flipH="1" rot="10800000">
            <a:off x="4119372" y="2618898"/>
            <a:ext cx="199651" cy="213913"/>
          </a:xfrm>
          <a:prstGeom prst="straightConnector1">
            <a:avLst/>
          </a:prstGeom>
          <a:noFill/>
          <a:ln cap="flat" cmpd="sng" w="15875">
            <a:solidFill>
              <a:srgbClr val="D975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7"/>
          <p:cNvSpPr txBox="1"/>
          <p:nvPr/>
        </p:nvSpPr>
        <p:spPr>
          <a:xfrm>
            <a:off x="3966043" y="1981454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structured technology advisory process</a:t>
            </a:r>
            <a:endParaRPr/>
          </a:p>
        </p:txBody>
      </p:sp>
      <p:cxnSp>
        <p:nvCxnSpPr>
          <p:cNvPr id="314" name="Google Shape;314;p7"/>
          <p:cNvCxnSpPr/>
          <p:nvPr/>
        </p:nvCxnSpPr>
        <p:spPr>
          <a:xfrm flipH="1" rot="10800000">
            <a:off x="4530852" y="3002946"/>
            <a:ext cx="199651" cy="213913"/>
          </a:xfrm>
          <a:prstGeom prst="straightConnector1">
            <a:avLst/>
          </a:prstGeom>
          <a:noFill/>
          <a:ln cap="flat" cmpd="sng" w="15875">
            <a:solidFill>
              <a:srgbClr val="D975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7"/>
          <p:cNvSpPr txBox="1"/>
          <p:nvPr/>
        </p:nvSpPr>
        <p:spPr>
          <a:xfrm>
            <a:off x="4377523" y="236550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Reactive, not planned, investment</a:t>
            </a:r>
            <a:endParaRPr/>
          </a:p>
        </p:txBody>
      </p:sp>
      <p:cxnSp>
        <p:nvCxnSpPr>
          <p:cNvPr id="316" name="Google Shape;316;p7"/>
          <p:cNvCxnSpPr/>
          <p:nvPr/>
        </p:nvCxnSpPr>
        <p:spPr>
          <a:xfrm flipH="1" rot="10800000">
            <a:off x="4942332" y="3386994"/>
            <a:ext cx="199651" cy="213913"/>
          </a:xfrm>
          <a:prstGeom prst="straightConnector1">
            <a:avLst/>
          </a:prstGeom>
          <a:noFill/>
          <a:ln cap="flat" cmpd="sng" w="15875">
            <a:solidFill>
              <a:srgbClr val="D975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7"/>
          <p:cNvSpPr txBox="1"/>
          <p:nvPr/>
        </p:nvSpPr>
        <p:spPr>
          <a:xfrm>
            <a:off x="4789003" y="274955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Manual reconciliation between systems</a:t>
            </a:r>
            <a:endParaRPr/>
          </a:p>
        </p:txBody>
      </p:sp>
      <p:cxnSp>
        <p:nvCxnSpPr>
          <p:cNvPr id="318" name="Google Shape;318;p7"/>
          <p:cNvCxnSpPr/>
          <p:nvPr/>
        </p:nvCxnSpPr>
        <p:spPr>
          <a:xfrm flipH="1" rot="10800000">
            <a:off x="777240" y="4023360"/>
            <a:ext cx="1874520" cy="1965960"/>
          </a:xfrm>
          <a:prstGeom prst="straightConnector1">
            <a:avLst/>
          </a:prstGeom>
          <a:noFill/>
          <a:ln cap="flat" cmpd="sng" w="31750">
            <a:solidFill>
              <a:srgbClr val="B98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7"/>
          <p:cNvSpPr txBox="1"/>
          <p:nvPr/>
        </p:nvSpPr>
        <p:spPr>
          <a:xfrm>
            <a:off x="502920" y="6080759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People</a:t>
            </a:r>
            <a:endParaRPr/>
          </a:p>
        </p:txBody>
      </p:sp>
      <p:cxnSp>
        <p:nvCxnSpPr>
          <p:cNvPr id="320" name="Google Shape;320;p7"/>
          <p:cNvCxnSpPr/>
          <p:nvPr/>
        </p:nvCxnSpPr>
        <p:spPr>
          <a:xfrm>
            <a:off x="1489557" y="5242255"/>
            <a:ext cx="211771" cy="201921"/>
          </a:xfrm>
          <a:prstGeom prst="straightConnector1">
            <a:avLst/>
          </a:prstGeom>
          <a:noFill/>
          <a:ln cap="flat" cmpd="sng" w="15875">
            <a:solidFill>
              <a:srgbClr val="B98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7"/>
          <p:cNvSpPr txBox="1"/>
          <p:nvPr/>
        </p:nvSpPr>
        <p:spPr>
          <a:xfrm>
            <a:off x="1374103" y="56903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 Simmons is the sole IT/data administrator</a:t>
            </a:r>
            <a:endParaRPr/>
          </a:p>
        </p:txBody>
      </p:sp>
      <p:cxnSp>
        <p:nvCxnSpPr>
          <p:cNvPr id="322" name="Google Shape;322;p7"/>
          <p:cNvCxnSpPr/>
          <p:nvPr/>
        </p:nvCxnSpPr>
        <p:spPr>
          <a:xfrm>
            <a:off x="1864461" y="4849063"/>
            <a:ext cx="211771" cy="201921"/>
          </a:xfrm>
          <a:prstGeom prst="straightConnector1">
            <a:avLst/>
          </a:prstGeom>
          <a:noFill/>
          <a:ln cap="flat" cmpd="sng" w="15875">
            <a:solidFill>
              <a:srgbClr val="B98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7"/>
          <p:cNvSpPr txBox="1"/>
          <p:nvPr/>
        </p:nvSpPr>
        <p:spPr>
          <a:xfrm>
            <a:off x="1749007" y="529718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second admin or delegated access</a:t>
            </a:r>
            <a:endParaRPr/>
          </a:p>
        </p:txBody>
      </p:sp>
      <p:cxnSp>
        <p:nvCxnSpPr>
          <p:cNvPr id="324" name="Google Shape;324;p7"/>
          <p:cNvCxnSpPr/>
          <p:nvPr/>
        </p:nvCxnSpPr>
        <p:spPr>
          <a:xfrm>
            <a:off x="2239365" y="4455871"/>
            <a:ext cx="211771" cy="201921"/>
          </a:xfrm>
          <a:prstGeom prst="straightConnector1">
            <a:avLst/>
          </a:prstGeom>
          <a:noFill/>
          <a:ln cap="flat" cmpd="sng" w="15875">
            <a:solidFill>
              <a:srgbClr val="B98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7"/>
          <p:cNvSpPr txBox="1"/>
          <p:nvPr/>
        </p:nvSpPr>
        <p:spPr>
          <a:xfrm>
            <a:off x="2123911" y="4903996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Specialist &amp; wife share his logins</a:t>
            </a:r>
            <a:endParaRPr/>
          </a:p>
        </p:txBody>
      </p:sp>
      <p:cxnSp>
        <p:nvCxnSpPr>
          <p:cNvPr id="326" name="Google Shape;326;p7"/>
          <p:cNvCxnSpPr/>
          <p:nvPr/>
        </p:nvCxnSpPr>
        <p:spPr>
          <a:xfrm flipH="1" rot="10800000">
            <a:off x="3337560" y="4023360"/>
            <a:ext cx="2057400" cy="1965960"/>
          </a:xfrm>
          <a:prstGeom prst="straightConnector1">
            <a:avLst/>
          </a:prstGeom>
          <a:noFill/>
          <a:ln cap="flat" cmpd="sng" w="31750">
            <a:solidFill>
              <a:srgbClr val="3AAF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7"/>
          <p:cNvSpPr txBox="1"/>
          <p:nvPr/>
        </p:nvSpPr>
        <p:spPr>
          <a:xfrm>
            <a:off x="3063240" y="6080759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3AAF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Vendor &amp; Contract</a:t>
            </a:r>
            <a:endParaRPr/>
          </a:p>
        </p:txBody>
      </p:sp>
      <p:cxnSp>
        <p:nvCxnSpPr>
          <p:cNvPr id="328" name="Google Shape;328;p7"/>
          <p:cNvCxnSpPr/>
          <p:nvPr/>
        </p:nvCxnSpPr>
        <p:spPr>
          <a:xfrm>
            <a:off x="4119372" y="5242255"/>
            <a:ext cx="202150" cy="211553"/>
          </a:xfrm>
          <a:prstGeom prst="straightConnector1">
            <a:avLst/>
          </a:prstGeom>
          <a:noFill/>
          <a:ln cap="flat" cmpd="sng" w="15875">
            <a:solidFill>
              <a:srgbClr val="3AAF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7"/>
          <p:cNvSpPr txBox="1"/>
          <p:nvPr/>
        </p:nvSpPr>
        <p:spPr>
          <a:xfrm>
            <a:off x="3973852" y="5720477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Current IT contract ends within 1 month</a:t>
            </a:r>
            <a:endParaRPr/>
          </a:p>
        </p:txBody>
      </p:sp>
      <p:cxnSp>
        <p:nvCxnSpPr>
          <p:cNvPr id="330" name="Google Shape;330;p7"/>
          <p:cNvCxnSpPr/>
          <p:nvPr/>
        </p:nvCxnSpPr>
        <p:spPr>
          <a:xfrm>
            <a:off x="4530852" y="4849063"/>
            <a:ext cx="202150" cy="211553"/>
          </a:xfrm>
          <a:prstGeom prst="straightConnector1">
            <a:avLst/>
          </a:prstGeom>
          <a:noFill/>
          <a:ln cap="flat" cmpd="sng" w="15875">
            <a:solidFill>
              <a:srgbClr val="3AAF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7"/>
          <p:cNvSpPr txBox="1"/>
          <p:nvPr/>
        </p:nvSpPr>
        <p:spPr>
          <a:xfrm>
            <a:off x="4385332" y="5327285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proactive guidance from outgoing provider</a:t>
            </a:r>
            <a:endParaRPr/>
          </a:p>
        </p:txBody>
      </p:sp>
      <p:cxnSp>
        <p:nvCxnSpPr>
          <p:cNvPr id="332" name="Google Shape;332;p7"/>
          <p:cNvCxnSpPr/>
          <p:nvPr/>
        </p:nvCxnSpPr>
        <p:spPr>
          <a:xfrm>
            <a:off x="4942332" y="4455871"/>
            <a:ext cx="202150" cy="211553"/>
          </a:xfrm>
          <a:prstGeom prst="straightConnector1">
            <a:avLst/>
          </a:prstGeom>
          <a:noFill/>
          <a:ln cap="flat" cmpd="sng" w="15875">
            <a:solidFill>
              <a:srgbClr val="3AAF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p7"/>
          <p:cNvSpPr txBox="1"/>
          <p:nvPr/>
        </p:nvSpPr>
        <p:spPr>
          <a:xfrm>
            <a:off x="4796812" y="4934093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 treated as like-for-like, not a review point</a:t>
            </a:r>
            <a:endParaRPr/>
          </a:p>
        </p:txBody>
      </p:sp>
      <p:cxnSp>
        <p:nvCxnSpPr>
          <p:cNvPr id="334" name="Google Shape;334;p7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335" name="Google Shape;3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7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337" name="Google Shape;337;p7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Root Cause Analysis</a:t>
            </a:r>
            <a:endParaRPr/>
          </a:p>
        </p:txBody>
      </p:sp>
      <p:sp>
        <p:nvSpPr>
          <p:cNvPr id="338" name="Google Shape;338;p7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 / 26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8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ICT SOLUTIONS</a:t>
            </a:r>
            <a:endParaRPr/>
          </a:p>
        </p:txBody>
      </p:sp>
      <p:sp>
        <p:nvSpPr>
          <p:cNvPr id="345" name="Google Shape;345;p8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Individual Focus Areas</a:t>
            </a:r>
            <a:endParaRPr/>
          </a:p>
        </p:txBody>
      </p:sp>
      <p:sp>
        <p:nvSpPr>
          <p:cNvPr id="346" name="Google Shape;346;p8"/>
          <p:cNvSpPr txBox="1"/>
          <p:nvPr/>
        </p:nvSpPr>
        <p:spPr>
          <a:xfrm>
            <a:off x="502920" y="13258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team member owns one layer of the solution</a:t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502920" y="169164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502920" y="1874519"/>
            <a:ext cx="3575304" cy="21031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676656" y="2048255"/>
            <a:ext cx="566928" cy="566928"/>
          </a:xfrm>
          <a:prstGeom prst="ellipse">
            <a:avLst/>
          </a:prstGeom>
          <a:solidFill>
            <a:srgbClr val="2F8577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350" name="Google Shape;350;p8"/>
          <p:cNvSpPr txBox="1"/>
          <p:nvPr/>
        </p:nvSpPr>
        <p:spPr>
          <a:xfrm>
            <a:off x="1371600" y="2075688"/>
            <a:ext cx="25694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Networking</a:t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2F8577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</a:t>
            </a:r>
            <a:endParaRPr/>
          </a:p>
        </p:txBody>
      </p:sp>
      <p:sp>
        <p:nvSpPr>
          <p:cNvPr id="352" name="Google Shape;352;p8"/>
          <p:cNvSpPr txBox="1"/>
          <p:nvPr/>
        </p:nvSpPr>
        <p:spPr>
          <a:xfrm>
            <a:off x="1234440" y="2907791"/>
            <a:ext cx="27066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Divya</a:t>
            </a:r>
            <a:endParaRPr/>
          </a:p>
        </p:txBody>
      </p:sp>
      <p:sp>
        <p:nvSpPr>
          <p:cNvPr id="353" name="Google Shape;353;p8"/>
          <p:cNvSpPr txBox="1"/>
          <p:nvPr/>
        </p:nvSpPr>
        <p:spPr>
          <a:xfrm>
            <a:off x="685800" y="3447287"/>
            <a:ext cx="32095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Reliable, segmented infrastructure across every room</a:t>
            </a: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4306824" y="1874519"/>
            <a:ext cx="3575304" cy="21031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4480560" y="2048255"/>
            <a:ext cx="566928" cy="566928"/>
          </a:xfrm>
          <a:prstGeom prst="ellipse">
            <a:avLst/>
          </a:prstGeom>
          <a:solidFill>
            <a:srgbClr val="D9754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356" name="Google Shape;356;p8"/>
          <p:cNvSpPr txBox="1"/>
          <p:nvPr/>
        </p:nvSpPr>
        <p:spPr>
          <a:xfrm>
            <a:off x="5175504" y="2075688"/>
            <a:ext cx="25694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Applications for Clients</a:t>
            </a:r>
            <a:endParaRPr/>
          </a:p>
        </p:txBody>
      </p:sp>
      <p:sp>
        <p:nvSpPr>
          <p:cNvPr id="357" name="Google Shape;357;p8"/>
          <p:cNvSpPr/>
          <p:nvPr/>
        </p:nvSpPr>
        <p:spPr>
          <a:xfrm>
            <a:off x="4489704" y="2880360"/>
            <a:ext cx="457200" cy="457200"/>
          </a:xfrm>
          <a:prstGeom prst="ellipse">
            <a:avLst/>
          </a:prstGeom>
          <a:solidFill>
            <a:srgbClr val="D9754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</a:t>
            </a:r>
            <a:endParaRPr/>
          </a:p>
        </p:txBody>
      </p:sp>
      <p:sp>
        <p:nvSpPr>
          <p:cNvPr id="358" name="Google Shape;358;p8"/>
          <p:cNvSpPr txBox="1"/>
          <p:nvPr/>
        </p:nvSpPr>
        <p:spPr>
          <a:xfrm>
            <a:off x="5038344" y="2907791"/>
            <a:ext cx="27066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Parneet</a:t>
            </a:r>
            <a:endParaRPr/>
          </a:p>
        </p:txBody>
      </p:sp>
      <p:sp>
        <p:nvSpPr>
          <p:cNvPr id="359" name="Google Shape;359;p8"/>
          <p:cNvSpPr txBox="1"/>
          <p:nvPr/>
        </p:nvSpPr>
        <p:spPr>
          <a:xfrm>
            <a:off x="4489704" y="3447287"/>
            <a:ext cx="32095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Patient-facing booking &amp; reminders</a:t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8110728" y="1874519"/>
            <a:ext cx="3575304" cy="21031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8284464" y="2048255"/>
            <a:ext cx="566928" cy="566928"/>
          </a:xfrm>
          <a:prstGeom prst="ellipse">
            <a:avLst/>
          </a:prstGeom>
          <a:solidFill>
            <a:srgbClr val="B9822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362" name="Google Shape;362;p8"/>
          <p:cNvSpPr txBox="1"/>
          <p:nvPr/>
        </p:nvSpPr>
        <p:spPr>
          <a:xfrm>
            <a:off x="8979408" y="2075688"/>
            <a:ext cx="25694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Staff Portal</a:t>
            </a:r>
            <a:endParaRPr/>
          </a:p>
        </p:txBody>
      </p:sp>
      <p:sp>
        <p:nvSpPr>
          <p:cNvPr id="363" name="Google Shape;363;p8"/>
          <p:cNvSpPr/>
          <p:nvPr/>
        </p:nvSpPr>
        <p:spPr>
          <a:xfrm>
            <a:off x="8293608" y="2880360"/>
            <a:ext cx="457200" cy="457200"/>
          </a:xfrm>
          <a:prstGeom prst="ellipse">
            <a:avLst/>
          </a:prstGeom>
          <a:solidFill>
            <a:srgbClr val="B9822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</a:t>
            </a:r>
            <a:endParaRPr/>
          </a:p>
        </p:txBody>
      </p:sp>
      <p:sp>
        <p:nvSpPr>
          <p:cNvPr id="364" name="Google Shape;364;p8"/>
          <p:cNvSpPr txBox="1"/>
          <p:nvPr/>
        </p:nvSpPr>
        <p:spPr>
          <a:xfrm>
            <a:off x="8842248" y="2907791"/>
            <a:ext cx="27066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Parneet</a:t>
            </a:r>
            <a:endParaRPr/>
          </a:p>
        </p:txBody>
      </p:sp>
      <p:sp>
        <p:nvSpPr>
          <p:cNvPr id="365" name="Google Shape;365;p8"/>
          <p:cNvSpPr txBox="1"/>
          <p:nvPr/>
        </p:nvSpPr>
        <p:spPr>
          <a:xfrm>
            <a:off x="8293608" y="3447287"/>
            <a:ext cx="32095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live dashboard for Dr Simmons</a:t>
            </a:r>
            <a:endParaRPr/>
          </a:p>
        </p:txBody>
      </p:sp>
      <p:sp>
        <p:nvSpPr>
          <p:cNvPr id="366" name="Google Shape;366;p8"/>
          <p:cNvSpPr/>
          <p:nvPr/>
        </p:nvSpPr>
        <p:spPr>
          <a:xfrm>
            <a:off x="502920" y="4206240"/>
            <a:ext cx="3575304" cy="21031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676656" y="4379976"/>
            <a:ext cx="566928" cy="566928"/>
          </a:xfrm>
          <a:prstGeom prst="ellipse">
            <a:avLst/>
          </a:prstGeom>
          <a:solidFill>
            <a:srgbClr val="3AAFA9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368" name="Google Shape;368;p8"/>
          <p:cNvSpPr txBox="1"/>
          <p:nvPr/>
        </p:nvSpPr>
        <p:spPr>
          <a:xfrm>
            <a:off x="1371600" y="4407407"/>
            <a:ext cx="25694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Database</a:t>
            </a:r>
            <a:endParaRPr/>
          </a:p>
        </p:txBody>
      </p:sp>
      <p:sp>
        <p:nvSpPr>
          <p:cNvPr id="369" name="Google Shape;369;p8"/>
          <p:cNvSpPr/>
          <p:nvPr/>
        </p:nvSpPr>
        <p:spPr>
          <a:xfrm>
            <a:off x="685800" y="5212079"/>
            <a:ext cx="457200" cy="457200"/>
          </a:xfrm>
          <a:prstGeom prst="ellipse">
            <a:avLst/>
          </a:prstGeom>
          <a:solidFill>
            <a:srgbClr val="3AAFA9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</a:t>
            </a:r>
            <a:endParaRPr/>
          </a:p>
        </p:txBody>
      </p:sp>
      <p:sp>
        <p:nvSpPr>
          <p:cNvPr id="370" name="Google Shape;370;p8"/>
          <p:cNvSpPr txBox="1"/>
          <p:nvPr/>
        </p:nvSpPr>
        <p:spPr>
          <a:xfrm>
            <a:off x="1234440" y="5239512"/>
            <a:ext cx="27066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Faye</a:t>
            </a:r>
            <a:endParaRPr/>
          </a:p>
        </p:txBody>
      </p:sp>
      <p:sp>
        <p:nvSpPr>
          <p:cNvPr id="371" name="Google Shape;371;p8"/>
          <p:cNvSpPr txBox="1"/>
          <p:nvPr/>
        </p:nvSpPr>
        <p:spPr>
          <a:xfrm>
            <a:off x="685800" y="5779007"/>
            <a:ext cx="32095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data model behind every system</a:t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>
            <a:off x="4306824" y="4206240"/>
            <a:ext cx="3575304" cy="21031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4480560" y="4379976"/>
            <a:ext cx="566928" cy="566928"/>
          </a:xfrm>
          <a:prstGeom prst="ellipse">
            <a:avLst/>
          </a:prstGeom>
          <a:solidFill>
            <a:srgbClr val="B5493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374" name="Google Shape;374;p8"/>
          <p:cNvSpPr txBox="1"/>
          <p:nvPr/>
        </p:nvSpPr>
        <p:spPr>
          <a:xfrm>
            <a:off x="5175504" y="4407407"/>
            <a:ext cx="25694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Cyber Security</a:t>
            </a:r>
            <a:endParaRPr/>
          </a:p>
        </p:txBody>
      </p:sp>
      <p:sp>
        <p:nvSpPr>
          <p:cNvPr id="375" name="Google Shape;375;p8"/>
          <p:cNvSpPr/>
          <p:nvPr/>
        </p:nvSpPr>
        <p:spPr>
          <a:xfrm>
            <a:off x="4489704" y="5212079"/>
            <a:ext cx="457200" cy="457200"/>
          </a:xfrm>
          <a:prstGeom prst="ellipse">
            <a:avLst/>
          </a:prstGeom>
          <a:solidFill>
            <a:srgbClr val="B5493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</a:t>
            </a:r>
            <a:endParaRPr/>
          </a:p>
        </p:txBody>
      </p:sp>
      <p:sp>
        <p:nvSpPr>
          <p:cNvPr id="376" name="Google Shape;376;p8"/>
          <p:cNvSpPr txBox="1"/>
          <p:nvPr/>
        </p:nvSpPr>
        <p:spPr>
          <a:xfrm>
            <a:off x="5038344" y="5239512"/>
            <a:ext cx="27066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Siddhanth</a:t>
            </a:r>
            <a:endParaRPr/>
          </a:p>
        </p:txBody>
      </p:sp>
      <p:sp>
        <p:nvSpPr>
          <p:cNvPr id="377" name="Google Shape;377;p8"/>
          <p:cNvSpPr txBox="1"/>
          <p:nvPr/>
        </p:nvSpPr>
        <p:spPr>
          <a:xfrm>
            <a:off x="4489704" y="5779007"/>
            <a:ext cx="32095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Access control, backup &amp; compliance</a:t>
            </a:r>
            <a:endParaRPr/>
          </a:p>
        </p:txBody>
      </p:sp>
      <p:sp>
        <p:nvSpPr>
          <p:cNvPr id="378" name="Google Shape;378;p8"/>
          <p:cNvSpPr/>
          <p:nvPr/>
        </p:nvSpPr>
        <p:spPr>
          <a:xfrm>
            <a:off x="8110728" y="4206240"/>
            <a:ext cx="3575304" cy="21031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8284464" y="4379976"/>
            <a:ext cx="566928" cy="566928"/>
          </a:xfrm>
          <a:prstGeom prst="ellipse">
            <a:avLst/>
          </a:prstGeom>
          <a:solidFill>
            <a:srgbClr val="2F8577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380" name="Google Shape;380;p8"/>
          <p:cNvSpPr txBox="1"/>
          <p:nvPr/>
        </p:nvSpPr>
        <p:spPr>
          <a:xfrm>
            <a:off x="8979408" y="4407407"/>
            <a:ext cx="25694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Engineering</a:t>
            </a: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8293608" y="5212079"/>
            <a:ext cx="457200" cy="457200"/>
          </a:xfrm>
          <a:prstGeom prst="ellipse">
            <a:avLst/>
          </a:prstGeom>
          <a:solidFill>
            <a:srgbClr val="2F8577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KI</a:t>
            </a:r>
            <a:endParaRPr/>
          </a:p>
        </p:txBody>
      </p:sp>
      <p:sp>
        <p:nvSpPr>
          <p:cNvPr id="382" name="Google Shape;382;p8"/>
          <p:cNvSpPr txBox="1"/>
          <p:nvPr/>
        </p:nvSpPr>
        <p:spPr>
          <a:xfrm>
            <a:off x="8842248" y="5239512"/>
            <a:ext cx="27066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Kiran</a:t>
            </a:r>
            <a:endParaRPr/>
          </a:p>
        </p:txBody>
      </p:sp>
      <p:sp>
        <p:nvSpPr>
          <p:cNvPr id="383" name="Google Shape;383;p8"/>
          <p:cNvSpPr txBox="1"/>
          <p:nvPr/>
        </p:nvSpPr>
        <p:spPr>
          <a:xfrm>
            <a:off x="8293608" y="5779007"/>
            <a:ext cx="32095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Workflow automation &amp; scalable applied AI</a:t>
            </a:r>
            <a:endParaRPr/>
          </a:p>
        </p:txBody>
      </p:sp>
      <p:cxnSp>
        <p:nvCxnSpPr>
          <p:cNvPr id="384" name="Google Shape;384;p8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385" name="Google Shape;3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8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387" name="Google Shape;387;p8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ICT Solutions</a:t>
            </a:r>
            <a:endParaRPr/>
          </a:p>
        </p:txBody>
      </p:sp>
      <p:sp>
        <p:nvSpPr>
          <p:cNvPr id="388" name="Google Shape;388;p8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 / 26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9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ICT SOLUTIONS · NETWORKING</a:t>
            </a:r>
            <a:endParaRPr/>
          </a:p>
        </p:txBody>
      </p:sp>
      <p:sp>
        <p:nvSpPr>
          <p:cNvPr id="395" name="Google Shape;395;p9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Architecture — Physical Layout</a:t>
            </a:r>
            <a:endParaRPr/>
          </a:p>
        </p:txBody>
      </p:sp>
      <p:sp>
        <p:nvSpPr>
          <p:cNvPr id="396" name="Google Shape;396;p9"/>
          <p:cNvSpPr txBox="1"/>
          <p:nvPr/>
        </p:nvSpPr>
        <p:spPr>
          <a:xfrm>
            <a:off x="502920" y="13258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Ground floor, indicative — not to scale, rooms inferred from the brief</a:t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502920" y="169164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914400" y="1874519"/>
            <a:ext cx="9418320" cy="3108960"/>
          </a:xfrm>
          <a:prstGeom prst="roundRect">
            <a:avLst>
              <a:gd fmla="val 0" name="adj"/>
            </a:avLst>
          </a:prstGeom>
          <a:solidFill>
            <a:srgbClr val="FCF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914400" y="3200400"/>
            <a:ext cx="9418320" cy="4572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p9"/>
          <p:cNvCxnSpPr/>
          <p:nvPr/>
        </p:nvCxnSpPr>
        <p:spPr>
          <a:xfrm>
            <a:off x="3268980" y="3200400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01" name="Google Shape;401;p9"/>
          <p:cNvCxnSpPr/>
          <p:nvPr/>
        </p:nvCxnSpPr>
        <p:spPr>
          <a:xfrm>
            <a:off x="5623560" y="3200400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02" name="Google Shape;402;p9"/>
          <p:cNvCxnSpPr/>
          <p:nvPr/>
        </p:nvCxnSpPr>
        <p:spPr>
          <a:xfrm>
            <a:off x="7978140" y="3200400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03" name="Google Shape;403;p9"/>
          <p:cNvSpPr txBox="1"/>
          <p:nvPr/>
        </p:nvSpPr>
        <p:spPr>
          <a:xfrm>
            <a:off x="914400" y="3200400"/>
            <a:ext cx="9418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CORRIDOR</a:t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>
            <a:off x="914400" y="1874519"/>
            <a:ext cx="2354580" cy="1325880"/>
          </a:xfrm>
          <a:prstGeom prst="roundRect">
            <a:avLst>
              <a:gd fmla="val 0" name="adj"/>
            </a:avLst>
          </a:prstGeom>
          <a:solidFill>
            <a:srgbClr val="E4F1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5" name="Google Shape;405;p9"/>
          <p:cNvCxnSpPr/>
          <p:nvPr/>
        </p:nvCxnSpPr>
        <p:spPr>
          <a:xfrm>
            <a:off x="914400" y="1874519"/>
            <a:ext cx="2354580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9"/>
          <p:cNvCxnSpPr/>
          <p:nvPr/>
        </p:nvCxnSpPr>
        <p:spPr>
          <a:xfrm>
            <a:off x="914400" y="3200400"/>
            <a:ext cx="985266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9"/>
          <p:cNvCxnSpPr/>
          <p:nvPr/>
        </p:nvCxnSpPr>
        <p:spPr>
          <a:xfrm>
            <a:off x="2283714" y="3200400"/>
            <a:ext cx="985266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9"/>
          <p:cNvCxnSpPr/>
          <p:nvPr/>
        </p:nvCxnSpPr>
        <p:spPr>
          <a:xfrm>
            <a:off x="914400" y="1874519"/>
            <a:ext cx="0" cy="1325881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9"/>
          <p:cNvCxnSpPr/>
          <p:nvPr/>
        </p:nvCxnSpPr>
        <p:spPr>
          <a:xfrm>
            <a:off x="3268980" y="1874519"/>
            <a:ext cx="0" cy="1325881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9"/>
          <p:cNvSpPr txBox="1"/>
          <p:nvPr/>
        </p:nvSpPr>
        <p:spPr>
          <a:xfrm>
            <a:off x="1005840" y="2002536"/>
            <a:ext cx="2171700" cy="822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Waiting Room /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Reception</a:t>
            </a:r>
            <a:endParaRPr/>
          </a:p>
        </p:txBody>
      </p:sp>
      <p:sp>
        <p:nvSpPr>
          <p:cNvPr id="411" name="Google Shape;411;p9"/>
          <p:cNvSpPr txBox="1"/>
          <p:nvPr/>
        </p:nvSpPr>
        <p:spPr>
          <a:xfrm>
            <a:off x="1005840" y="2907792"/>
            <a:ext cx="21717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Wi-Fi · Admin AP</a:t>
            </a:r>
            <a:endParaRPr/>
          </a:p>
        </p:txBody>
      </p:sp>
      <p:sp>
        <p:nvSpPr>
          <p:cNvPr id="412" name="Google Shape;412;p9"/>
          <p:cNvSpPr/>
          <p:nvPr/>
        </p:nvSpPr>
        <p:spPr>
          <a:xfrm>
            <a:off x="3268980" y="1874519"/>
            <a:ext cx="2354580" cy="1325880"/>
          </a:xfrm>
          <a:prstGeom prst="roundRect">
            <a:avLst>
              <a:gd fmla="val 0" name="adj"/>
            </a:avLst>
          </a:prstGeom>
          <a:solidFill>
            <a:srgbClr val="FBE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" name="Google Shape;413;p9"/>
          <p:cNvCxnSpPr/>
          <p:nvPr/>
        </p:nvCxnSpPr>
        <p:spPr>
          <a:xfrm>
            <a:off x="3268980" y="1874519"/>
            <a:ext cx="2354580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9"/>
          <p:cNvCxnSpPr/>
          <p:nvPr/>
        </p:nvCxnSpPr>
        <p:spPr>
          <a:xfrm>
            <a:off x="3268980" y="3200400"/>
            <a:ext cx="985266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9"/>
          <p:cNvCxnSpPr/>
          <p:nvPr/>
        </p:nvCxnSpPr>
        <p:spPr>
          <a:xfrm>
            <a:off x="4638294" y="3200400"/>
            <a:ext cx="985266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9"/>
          <p:cNvCxnSpPr/>
          <p:nvPr/>
        </p:nvCxnSpPr>
        <p:spPr>
          <a:xfrm>
            <a:off x="3268980" y="1874519"/>
            <a:ext cx="0" cy="1325881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p9"/>
          <p:cNvCxnSpPr/>
          <p:nvPr/>
        </p:nvCxnSpPr>
        <p:spPr>
          <a:xfrm>
            <a:off x="5623560" y="1874519"/>
            <a:ext cx="0" cy="1325881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9"/>
          <p:cNvSpPr txBox="1"/>
          <p:nvPr/>
        </p:nvSpPr>
        <p:spPr>
          <a:xfrm>
            <a:off x="3360420" y="2002536"/>
            <a:ext cx="2171700" cy="822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Consulting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Room 1</a:t>
            </a:r>
            <a:endParaRPr/>
          </a:p>
        </p:txBody>
      </p:sp>
      <p:sp>
        <p:nvSpPr>
          <p:cNvPr id="419" name="Google Shape;419;p9"/>
          <p:cNvSpPr txBox="1"/>
          <p:nvPr/>
        </p:nvSpPr>
        <p:spPr>
          <a:xfrm>
            <a:off x="3360420" y="2907792"/>
            <a:ext cx="21717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Wi-Fi · Clinical AP</a:t>
            </a:r>
            <a:endParaRPr/>
          </a:p>
        </p:txBody>
      </p:sp>
      <p:sp>
        <p:nvSpPr>
          <p:cNvPr id="420" name="Google Shape;420;p9"/>
          <p:cNvSpPr/>
          <p:nvPr/>
        </p:nvSpPr>
        <p:spPr>
          <a:xfrm>
            <a:off x="5623560" y="1874519"/>
            <a:ext cx="2354580" cy="1325880"/>
          </a:xfrm>
          <a:prstGeom prst="roundRect">
            <a:avLst>
              <a:gd fmla="val 0" name="adj"/>
            </a:avLst>
          </a:prstGeom>
          <a:solidFill>
            <a:srgbClr val="FBE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1" name="Google Shape;421;p9"/>
          <p:cNvCxnSpPr/>
          <p:nvPr/>
        </p:nvCxnSpPr>
        <p:spPr>
          <a:xfrm>
            <a:off x="5623560" y="1874519"/>
            <a:ext cx="2354580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9"/>
          <p:cNvCxnSpPr/>
          <p:nvPr/>
        </p:nvCxnSpPr>
        <p:spPr>
          <a:xfrm>
            <a:off x="5623560" y="3200400"/>
            <a:ext cx="985266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p9"/>
          <p:cNvCxnSpPr/>
          <p:nvPr/>
        </p:nvCxnSpPr>
        <p:spPr>
          <a:xfrm>
            <a:off x="6992874" y="3200400"/>
            <a:ext cx="985266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p9"/>
          <p:cNvCxnSpPr/>
          <p:nvPr/>
        </p:nvCxnSpPr>
        <p:spPr>
          <a:xfrm>
            <a:off x="5623560" y="1874519"/>
            <a:ext cx="0" cy="1325881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p9"/>
          <p:cNvCxnSpPr/>
          <p:nvPr/>
        </p:nvCxnSpPr>
        <p:spPr>
          <a:xfrm>
            <a:off x="7978140" y="1874519"/>
            <a:ext cx="0" cy="1325881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6" name="Google Shape;426;p9"/>
          <p:cNvSpPr txBox="1"/>
          <p:nvPr/>
        </p:nvSpPr>
        <p:spPr>
          <a:xfrm>
            <a:off x="5715000" y="2002536"/>
            <a:ext cx="2171700" cy="822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Consulting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Room 2</a:t>
            </a:r>
            <a:endParaRPr/>
          </a:p>
        </p:txBody>
      </p:sp>
      <p:sp>
        <p:nvSpPr>
          <p:cNvPr id="427" name="Google Shape;427;p9"/>
          <p:cNvSpPr txBox="1"/>
          <p:nvPr/>
        </p:nvSpPr>
        <p:spPr>
          <a:xfrm>
            <a:off x="5715000" y="2907792"/>
            <a:ext cx="21717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Wi-Fi · Clinical AP</a:t>
            </a:r>
            <a:endParaRPr/>
          </a:p>
        </p:txBody>
      </p:sp>
      <p:sp>
        <p:nvSpPr>
          <p:cNvPr id="428" name="Google Shape;428;p9"/>
          <p:cNvSpPr/>
          <p:nvPr/>
        </p:nvSpPr>
        <p:spPr>
          <a:xfrm>
            <a:off x="7978140" y="1874519"/>
            <a:ext cx="2354580" cy="1325880"/>
          </a:xfrm>
          <a:prstGeom prst="roundRect">
            <a:avLst>
              <a:gd fmla="val 0" name="adj"/>
            </a:avLst>
          </a:prstGeom>
          <a:solidFill>
            <a:srgbClr val="FBE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9" name="Google Shape;429;p9"/>
          <p:cNvCxnSpPr/>
          <p:nvPr/>
        </p:nvCxnSpPr>
        <p:spPr>
          <a:xfrm>
            <a:off x="7978140" y="1874519"/>
            <a:ext cx="2354580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p9"/>
          <p:cNvCxnSpPr/>
          <p:nvPr/>
        </p:nvCxnSpPr>
        <p:spPr>
          <a:xfrm>
            <a:off x="7978140" y="3200400"/>
            <a:ext cx="985266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9"/>
          <p:cNvCxnSpPr/>
          <p:nvPr/>
        </p:nvCxnSpPr>
        <p:spPr>
          <a:xfrm>
            <a:off x="9347454" y="3200400"/>
            <a:ext cx="985266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" name="Google Shape;432;p9"/>
          <p:cNvCxnSpPr/>
          <p:nvPr/>
        </p:nvCxnSpPr>
        <p:spPr>
          <a:xfrm>
            <a:off x="7978140" y="1874519"/>
            <a:ext cx="0" cy="1325881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" name="Google Shape;433;p9"/>
          <p:cNvCxnSpPr/>
          <p:nvPr/>
        </p:nvCxnSpPr>
        <p:spPr>
          <a:xfrm>
            <a:off x="10332720" y="1874519"/>
            <a:ext cx="0" cy="1325881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p9"/>
          <p:cNvSpPr txBox="1"/>
          <p:nvPr/>
        </p:nvSpPr>
        <p:spPr>
          <a:xfrm>
            <a:off x="8069580" y="2002536"/>
            <a:ext cx="2171700" cy="822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Consulting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Room 3</a:t>
            </a:r>
            <a:endParaRPr/>
          </a:p>
        </p:txBody>
      </p:sp>
      <p:sp>
        <p:nvSpPr>
          <p:cNvPr id="435" name="Google Shape;435;p9"/>
          <p:cNvSpPr txBox="1"/>
          <p:nvPr/>
        </p:nvSpPr>
        <p:spPr>
          <a:xfrm>
            <a:off x="8069580" y="2907792"/>
            <a:ext cx="21717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Wi-Fi · Clinical AP</a:t>
            </a:r>
            <a:endParaRPr/>
          </a:p>
        </p:txBody>
      </p:sp>
      <p:sp>
        <p:nvSpPr>
          <p:cNvPr id="436" name="Google Shape;436;p9"/>
          <p:cNvSpPr/>
          <p:nvPr/>
        </p:nvSpPr>
        <p:spPr>
          <a:xfrm>
            <a:off x="914400" y="3657600"/>
            <a:ext cx="2354580" cy="1325880"/>
          </a:xfrm>
          <a:prstGeom prst="roundRect">
            <a:avLst>
              <a:gd fmla="val 0" name="adj"/>
            </a:avLst>
          </a:prstGeom>
          <a:solidFill>
            <a:srgbClr val="FDF1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" name="Google Shape;437;p9"/>
          <p:cNvCxnSpPr/>
          <p:nvPr/>
        </p:nvCxnSpPr>
        <p:spPr>
          <a:xfrm>
            <a:off x="914400" y="3657600"/>
            <a:ext cx="985266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8" name="Google Shape;438;p9"/>
          <p:cNvCxnSpPr/>
          <p:nvPr/>
        </p:nvCxnSpPr>
        <p:spPr>
          <a:xfrm>
            <a:off x="2283714" y="3657600"/>
            <a:ext cx="985266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p9"/>
          <p:cNvCxnSpPr/>
          <p:nvPr/>
        </p:nvCxnSpPr>
        <p:spPr>
          <a:xfrm>
            <a:off x="914400" y="4983480"/>
            <a:ext cx="2354580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9"/>
          <p:cNvCxnSpPr/>
          <p:nvPr/>
        </p:nvCxnSpPr>
        <p:spPr>
          <a:xfrm>
            <a:off x="914400" y="3657600"/>
            <a:ext cx="0" cy="132588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9"/>
          <p:cNvCxnSpPr/>
          <p:nvPr/>
        </p:nvCxnSpPr>
        <p:spPr>
          <a:xfrm>
            <a:off x="3268980" y="3657600"/>
            <a:ext cx="0" cy="132588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p9"/>
          <p:cNvSpPr txBox="1"/>
          <p:nvPr/>
        </p:nvSpPr>
        <p:spPr>
          <a:xfrm>
            <a:off x="1005840" y="3785615"/>
            <a:ext cx="2171700" cy="822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Server /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Comms Cupboard</a:t>
            </a:r>
            <a:endParaRPr/>
          </a:p>
        </p:txBody>
      </p:sp>
      <p:sp>
        <p:nvSpPr>
          <p:cNvPr id="443" name="Google Shape;443;p9"/>
          <p:cNvSpPr txBox="1"/>
          <p:nvPr/>
        </p:nvSpPr>
        <p:spPr>
          <a:xfrm>
            <a:off x="1005840" y="4690872"/>
            <a:ext cx="21717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UDM-Pro + Switch</a:t>
            </a:r>
            <a:endParaRPr/>
          </a:p>
        </p:txBody>
      </p:sp>
      <p:sp>
        <p:nvSpPr>
          <p:cNvPr id="444" name="Google Shape;444;p9"/>
          <p:cNvSpPr/>
          <p:nvPr/>
        </p:nvSpPr>
        <p:spPr>
          <a:xfrm>
            <a:off x="3268980" y="3657600"/>
            <a:ext cx="2354580" cy="1325880"/>
          </a:xfrm>
          <a:prstGeom prst="roundRect">
            <a:avLst>
              <a:gd fmla="val 0" name="adj"/>
            </a:avLst>
          </a:prstGeom>
          <a:solidFill>
            <a:srgbClr val="E4F1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5" name="Google Shape;445;p9"/>
          <p:cNvCxnSpPr/>
          <p:nvPr/>
        </p:nvCxnSpPr>
        <p:spPr>
          <a:xfrm>
            <a:off x="3268980" y="3657600"/>
            <a:ext cx="985266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9"/>
          <p:cNvCxnSpPr/>
          <p:nvPr/>
        </p:nvCxnSpPr>
        <p:spPr>
          <a:xfrm>
            <a:off x="4638294" y="3657600"/>
            <a:ext cx="985266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9"/>
          <p:cNvCxnSpPr/>
          <p:nvPr/>
        </p:nvCxnSpPr>
        <p:spPr>
          <a:xfrm>
            <a:off x="3268980" y="4983480"/>
            <a:ext cx="2354580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" name="Google Shape;448;p9"/>
          <p:cNvCxnSpPr/>
          <p:nvPr/>
        </p:nvCxnSpPr>
        <p:spPr>
          <a:xfrm>
            <a:off x="3268980" y="3657600"/>
            <a:ext cx="0" cy="132588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" name="Google Shape;449;p9"/>
          <p:cNvCxnSpPr/>
          <p:nvPr/>
        </p:nvCxnSpPr>
        <p:spPr>
          <a:xfrm>
            <a:off x="5623560" y="3657600"/>
            <a:ext cx="0" cy="132588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0" name="Google Shape;450;p9"/>
          <p:cNvSpPr txBox="1"/>
          <p:nvPr/>
        </p:nvSpPr>
        <p:spPr>
          <a:xfrm>
            <a:off x="3360420" y="3785615"/>
            <a:ext cx="2171700" cy="822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Nurse /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Treatment Room</a:t>
            </a:r>
            <a:endParaRPr/>
          </a:p>
        </p:txBody>
      </p:sp>
      <p:sp>
        <p:nvSpPr>
          <p:cNvPr id="451" name="Google Shape;451;p9"/>
          <p:cNvSpPr txBox="1"/>
          <p:nvPr/>
        </p:nvSpPr>
        <p:spPr>
          <a:xfrm>
            <a:off x="3360420" y="4690872"/>
            <a:ext cx="21717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Wi-Fi · Admin AP</a:t>
            </a:r>
            <a:endParaRPr/>
          </a:p>
        </p:txBody>
      </p:sp>
      <p:sp>
        <p:nvSpPr>
          <p:cNvPr id="452" name="Google Shape;452;p9"/>
          <p:cNvSpPr/>
          <p:nvPr/>
        </p:nvSpPr>
        <p:spPr>
          <a:xfrm>
            <a:off x="5623560" y="3657600"/>
            <a:ext cx="2354580" cy="1325880"/>
          </a:xfrm>
          <a:prstGeom prst="roundRect">
            <a:avLst>
              <a:gd fmla="val 0" name="adj"/>
            </a:avLst>
          </a:prstGeom>
          <a:solidFill>
            <a:srgbClr val="FBE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3" name="Google Shape;453;p9"/>
          <p:cNvCxnSpPr/>
          <p:nvPr/>
        </p:nvCxnSpPr>
        <p:spPr>
          <a:xfrm>
            <a:off x="5623560" y="3657600"/>
            <a:ext cx="985266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" name="Google Shape;454;p9"/>
          <p:cNvCxnSpPr/>
          <p:nvPr/>
        </p:nvCxnSpPr>
        <p:spPr>
          <a:xfrm>
            <a:off x="6992874" y="3657600"/>
            <a:ext cx="985266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p9"/>
          <p:cNvCxnSpPr/>
          <p:nvPr/>
        </p:nvCxnSpPr>
        <p:spPr>
          <a:xfrm>
            <a:off x="5623560" y="4983480"/>
            <a:ext cx="2354580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p9"/>
          <p:cNvCxnSpPr/>
          <p:nvPr/>
        </p:nvCxnSpPr>
        <p:spPr>
          <a:xfrm>
            <a:off x="5623560" y="3657600"/>
            <a:ext cx="0" cy="132588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7" name="Google Shape;457;p9"/>
          <p:cNvCxnSpPr/>
          <p:nvPr/>
        </p:nvCxnSpPr>
        <p:spPr>
          <a:xfrm>
            <a:off x="7978140" y="3657600"/>
            <a:ext cx="0" cy="132588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8" name="Google Shape;458;p9"/>
          <p:cNvSpPr txBox="1"/>
          <p:nvPr/>
        </p:nvSpPr>
        <p:spPr>
          <a:xfrm>
            <a:off x="5715000" y="3785615"/>
            <a:ext cx="2171700" cy="822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Specialist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Room (visiting)</a:t>
            </a:r>
            <a:endParaRPr/>
          </a:p>
        </p:txBody>
      </p:sp>
      <p:sp>
        <p:nvSpPr>
          <p:cNvPr id="459" name="Google Shape;459;p9"/>
          <p:cNvSpPr txBox="1"/>
          <p:nvPr/>
        </p:nvSpPr>
        <p:spPr>
          <a:xfrm>
            <a:off x="5715000" y="4690872"/>
            <a:ext cx="21717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Wi-Fi · Clinical AP</a:t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>
            <a:off x="7978140" y="3657600"/>
            <a:ext cx="2354580" cy="1325880"/>
          </a:xfrm>
          <a:prstGeom prst="roundRect">
            <a:avLst>
              <a:gd fmla="val 0" name="adj"/>
            </a:avLst>
          </a:prstGeom>
          <a:solidFill>
            <a:srgbClr val="E4F1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1" name="Google Shape;461;p9"/>
          <p:cNvCxnSpPr/>
          <p:nvPr/>
        </p:nvCxnSpPr>
        <p:spPr>
          <a:xfrm>
            <a:off x="7978140" y="3657600"/>
            <a:ext cx="985266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p9"/>
          <p:cNvCxnSpPr/>
          <p:nvPr/>
        </p:nvCxnSpPr>
        <p:spPr>
          <a:xfrm>
            <a:off x="9347454" y="3657600"/>
            <a:ext cx="985266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p9"/>
          <p:cNvCxnSpPr/>
          <p:nvPr/>
        </p:nvCxnSpPr>
        <p:spPr>
          <a:xfrm>
            <a:off x="7978140" y="4983480"/>
            <a:ext cx="2354580" cy="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9"/>
          <p:cNvCxnSpPr/>
          <p:nvPr/>
        </p:nvCxnSpPr>
        <p:spPr>
          <a:xfrm>
            <a:off x="7978140" y="3657600"/>
            <a:ext cx="0" cy="132588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p9"/>
          <p:cNvCxnSpPr/>
          <p:nvPr/>
        </p:nvCxnSpPr>
        <p:spPr>
          <a:xfrm>
            <a:off x="10332720" y="3657600"/>
            <a:ext cx="0" cy="1325880"/>
          </a:xfrm>
          <a:prstGeom prst="straightConnector1">
            <a:avLst/>
          </a:prstGeom>
          <a:noFill/>
          <a:ln cap="flat" cmpd="sng" w="22225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6" name="Google Shape;466;p9"/>
          <p:cNvSpPr txBox="1"/>
          <p:nvPr/>
        </p:nvSpPr>
        <p:spPr>
          <a:xfrm>
            <a:off x="8069580" y="3785615"/>
            <a:ext cx="2171700" cy="822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 Simmons'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Office</a:t>
            </a:r>
            <a:endParaRPr/>
          </a:p>
        </p:txBody>
      </p:sp>
      <p:sp>
        <p:nvSpPr>
          <p:cNvPr id="467" name="Google Shape;467;p9"/>
          <p:cNvSpPr txBox="1"/>
          <p:nvPr/>
        </p:nvSpPr>
        <p:spPr>
          <a:xfrm>
            <a:off x="8069580" y="4690872"/>
            <a:ext cx="21717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Wi-Fi · Admin AP</a:t>
            </a:r>
            <a:endParaRPr/>
          </a:p>
        </p:txBody>
      </p:sp>
      <p:sp>
        <p:nvSpPr>
          <p:cNvPr id="468" name="Google Shape;468;p9"/>
          <p:cNvSpPr/>
          <p:nvPr/>
        </p:nvSpPr>
        <p:spPr>
          <a:xfrm>
            <a:off x="914400" y="1874519"/>
            <a:ext cx="9418320" cy="310896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362E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9" name="Google Shape;469;p9"/>
          <p:cNvCxnSpPr/>
          <p:nvPr/>
        </p:nvCxnSpPr>
        <p:spPr>
          <a:xfrm rot="10800000">
            <a:off x="10698480" y="1874519"/>
            <a:ext cx="0" cy="457201"/>
          </a:xfrm>
          <a:prstGeom prst="straightConnector1">
            <a:avLst/>
          </a:prstGeom>
          <a:noFill/>
          <a:ln cap="flat" cmpd="sng" w="15875">
            <a:solidFill>
              <a:srgbClr val="6B5F5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70" name="Google Shape;470;p9"/>
          <p:cNvSpPr txBox="1"/>
          <p:nvPr/>
        </p:nvSpPr>
        <p:spPr>
          <a:xfrm>
            <a:off x="10469880" y="15727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/>
          </a:p>
        </p:txBody>
      </p:sp>
      <p:sp>
        <p:nvSpPr>
          <p:cNvPr id="471" name="Google Shape;471;p9"/>
          <p:cNvSpPr/>
          <p:nvPr/>
        </p:nvSpPr>
        <p:spPr>
          <a:xfrm>
            <a:off x="502920" y="5266944"/>
            <a:ext cx="146304" cy="146304"/>
          </a:xfrm>
          <a:prstGeom prst="ellipse">
            <a:avLst/>
          </a:prstGeom>
          <a:solidFill>
            <a:srgbClr val="D975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/>
          <p:cNvSpPr txBox="1"/>
          <p:nvPr/>
        </p:nvSpPr>
        <p:spPr>
          <a:xfrm>
            <a:off x="722376" y="5239512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Clinical Zone</a:t>
            </a:r>
            <a:endParaRPr/>
          </a:p>
        </p:txBody>
      </p:sp>
      <p:sp>
        <p:nvSpPr>
          <p:cNvPr id="473" name="Google Shape;473;p9"/>
          <p:cNvSpPr/>
          <p:nvPr/>
        </p:nvSpPr>
        <p:spPr>
          <a:xfrm>
            <a:off x="2971800" y="5266944"/>
            <a:ext cx="146304" cy="146304"/>
          </a:xfrm>
          <a:prstGeom prst="ellipse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9"/>
          <p:cNvSpPr txBox="1"/>
          <p:nvPr/>
        </p:nvSpPr>
        <p:spPr>
          <a:xfrm>
            <a:off x="3191256" y="5239512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Admin Zone</a:t>
            </a:r>
            <a:endParaRPr/>
          </a:p>
        </p:txBody>
      </p:sp>
      <p:sp>
        <p:nvSpPr>
          <p:cNvPr id="475" name="Google Shape;475;p9"/>
          <p:cNvSpPr/>
          <p:nvPr/>
        </p:nvSpPr>
        <p:spPr>
          <a:xfrm>
            <a:off x="5440680" y="5266944"/>
            <a:ext cx="146304" cy="146304"/>
          </a:xfrm>
          <a:prstGeom prst="ellipse">
            <a:avLst/>
          </a:prstGeom>
          <a:solidFill>
            <a:srgbClr val="B982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9"/>
          <p:cNvSpPr txBox="1"/>
          <p:nvPr/>
        </p:nvSpPr>
        <p:spPr>
          <a:xfrm>
            <a:off x="5660136" y="5239512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Infrastructure</a:t>
            </a:r>
            <a:endParaRPr/>
          </a:p>
        </p:txBody>
      </p:sp>
      <p:cxnSp>
        <p:nvCxnSpPr>
          <p:cNvPr id="477" name="Google Shape;477;p9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478" name="Google Shape;4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9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480" name="Google Shape;480;p9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Physical Layout</a:t>
            </a:r>
            <a:endParaRPr/>
          </a:p>
        </p:txBody>
      </p:sp>
      <p:sp>
        <p:nvSpPr>
          <p:cNvPr id="481" name="Google Shape;481;p9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 / 26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0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ICT SOLUTIONS · NETWORKING</a:t>
            </a:r>
            <a:endParaRPr/>
          </a:p>
        </p:txBody>
      </p:sp>
      <p:sp>
        <p:nvSpPr>
          <p:cNvPr id="488" name="Google Shape;488;p10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Architecture — Network Diagram</a:t>
            </a:r>
            <a:endParaRPr/>
          </a:p>
        </p:txBody>
      </p:sp>
      <p:sp>
        <p:nvSpPr>
          <p:cNvPr id="489" name="Google Shape;489;p10"/>
          <p:cNvSpPr txBox="1"/>
          <p:nvPr/>
        </p:nvSpPr>
        <p:spPr>
          <a:xfrm>
            <a:off x="502920" y="13258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Logical topology — segmented by VLAN, port and IP addressing shown</a:t>
            </a:r>
            <a:endParaRPr/>
          </a:p>
        </p:txBody>
      </p:sp>
      <p:sp>
        <p:nvSpPr>
          <p:cNvPr id="490" name="Google Shape;490;p10"/>
          <p:cNvSpPr/>
          <p:nvPr/>
        </p:nvSpPr>
        <p:spPr>
          <a:xfrm>
            <a:off x="502920" y="169164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5394960" y="1783080"/>
            <a:ext cx="1463040" cy="566928"/>
          </a:xfrm>
          <a:prstGeom prst="cloud">
            <a:avLst/>
          </a:prstGeom>
          <a:solidFill>
            <a:srgbClr val="EFE9DC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Internet (ISP)</a:t>
            </a:r>
            <a:endParaRPr/>
          </a:p>
        </p:txBody>
      </p:sp>
      <p:cxnSp>
        <p:nvCxnSpPr>
          <p:cNvPr id="492" name="Google Shape;492;p10"/>
          <p:cNvCxnSpPr/>
          <p:nvPr/>
        </p:nvCxnSpPr>
        <p:spPr>
          <a:xfrm>
            <a:off x="6126480" y="235000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6B5F5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93" name="Google Shape;493;p10"/>
          <p:cNvSpPr/>
          <p:nvPr/>
        </p:nvSpPr>
        <p:spPr>
          <a:xfrm>
            <a:off x="6035040" y="2340864"/>
            <a:ext cx="822960" cy="18288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0"/>
          <p:cNvSpPr txBox="1"/>
          <p:nvPr/>
        </p:nvSpPr>
        <p:spPr>
          <a:xfrm>
            <a:off x="6035040" y="233172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WAN</a:t>
            </a:r>
            <a:endParaRPr/>
          </a:p>
        </p:txBody>
      </p:sp>
      <p:sp>
        <p:nvSpPr>
          <p:cNvPr id="495" name="Google Shape;495;p10"/>
          <p:cNvSpPr/>
          <p:nvPr/>
        </p:nvSpPr>
        <p:spPr>
          <a:xfrm>
            <a:off x="5074920" y="2514600"/>
            <a:ext cx="2103120" cy="502920"/>
          </a:xfrm>
          <a:prstGeom prst="roundRect">
            <a:avLst>
              <a:gd fmla="val 18000" name="adj"/>
            </a:avLst>
          </a:prstGeom>
          <a:solidFill>
            <a:srgbClr val="2F8577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UniFi Dream Machine Pro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3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Firewall · Router · Controller  ·  10.10.0.1</a:t>
            </a:r>
            <a:endParaRPr/>
          </a:p>
        </p:txBody>
      </p:sp>
      <p:sp>
        <p:nvSpPr>
          <p:cNvPr id="496" name="Google Shape;496;p10"/>
          <p:cNvSpPr/>
          <p:nvPr/>
        </p:nvSpPr>
        <p:spPr>
          <a:xfrm>
            <a:off x="5285740" y="297180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5519420" y="297180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5753100" y="297180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5986780" y="297180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6220460" y="297180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6454140" y="297180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6687820" y="297180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6921500" y="2971800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4" name="Google Shape;504;p10"/>
          <p:cNvCxnSpPr/>
          <p:nvPr/>
        </p:nvCxnSpPr>
        <p:spPr>
          <a:xfrm>
            <a:off x="6126480" y="301752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6B5F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5" name="Google Shape;505;p10"/>
          <p:cNvSpPr/>
          <p:nvPr/>
        </p:nvSpPr>
        <p:spPr>
          <a:xfrm>
            <a:off x="6080760" y="3008376"/>
            <a:ext cx="822960" cy="18288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0"/>
          <p:cNvSpPr txBox="1"/>
          <p:nvPr/>
        </p:nvSpPr>
        <p:spPr>
          <a:xfrm>
            <a:off x="6080760" y="299923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Gi0/1</a:t>
            </a:r>
            <a:endParaRPr/>
          </a:p>
        </p:txBody>
      </p:sp>
      <p:sp>
        <p:nvSpPr>
          <p:cNvPr id="507" name="Google Shape;507;p10"/>
          <p:cNvSpPr/>
          <p:nvPr/>
        </p:nvSpPr>
        <p:spPr>
          <a:xfrm>
            <a:off x="5074920" y="3182112"/>
            <a:ext cx="2103120" cy="457200"/>
          </a:xfrm>
          <a:prstGeom prst="roundRect">
            <a:avLst>
              <a:gd fmla="val 18000" name="adj"/>
            </a:avLst>
          </a:prstGeom>
          <a:solidFill>
            <a:srgbClr val="3AAFA9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UniFi Switch Lite 8 PoE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3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10.10.40.2</a:t>
            </a:r>
            <a:endParaRPr/>
          </a:p>
        </p:txBody>
      </p:sp>
      <p:sp>
        <p:nvSpPr>
          <p:cNvPr id="508" name="Google Shape;508;p10"/>
          <p:cNvSpPr/>
          <p:nvPr/>
        </p:nvSpPr>
        <p:spPr>
          <a:xfrm>
            <a:off x="5285740" y="3593592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5519420" y="3593592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5753100" y="3593592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5986780" y="3593592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0"/>
          <p:cNvSpPr/>
          <p:nvPr/>
        </p:nvSpPr>
        <p:spPr>
          <a:xfrm>
            <a:off x="6220460" y="3593592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6454140" y="3593592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0"/>
          <p:cNvSpPr/>
          <p:nvPr/>
        </p:nvSpPr>
        <p:spPr>
          <a:xfrm>
            <a:off x="6687820" y="3593592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6921500" y="3593592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6" name="Google Shape;516;p10"/>
          <p:cNvCxnSpPr/>
          <p:nvPr/>
        </p:nvCxnSpPr>
        <p:spPr>
          <a:xfrm flipH="1">
            <a:off x="2400180" y="3639312"/>
            <a:ext cx="3726300" cy="3384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B5F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p10"/>
          <p:cNvSpPr/>
          <p:nvPr/>
        </p:nvSpPr>
        <p:spPr>
          <a:xfrm>
            <a:off x="3794759" y="3547872"/>
            <a:ext cx="822960" cy="18288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0"/>
          <p:cNvSpPr txBox="1"/>
          <p:nvPr/>
        </p:nvSpPr>
        <p:spPr>
          <a:xfrm>
            <a:off x="3794759" y="353872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Gi0/2 · PoE</a:t>
            </a:r>
            <a:endParaRPr/>
          </a:p>
        </p:txBody>
      </p:sp>
      <p:sp>
        <p:nvSpPr>
          <p:cNvPr id="519" name="Google Shape;519;p10"/>
          <p:cNvSpPr/>
          <p:nvPr/>
        </p:nvSpPr>
        <p:spPr>
          <a:xfrm>
            <a:off x="6085332" y="3598164"/>
            <a:ext cx="82296" cy="82296"/>
          </a:xfrm>
          <a:prstGeom prst="ellipse">
            <a:avLst/>
          </a:prstGeom>
          <a:solidFill>
            <a:srgbClr val="3A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0"/>
          <p:cNvSpPr/>
          <p:nvPr/>
        </p:nvSpPr>
        <p:spPr>
          <a:xfrm>
            <a:off x="2359152" y="3936491"/>
            <a:ext cx="82296" cy="82296"/>
          </a:xfrm>
          <a:prstGeom prst="ellipse">
            <a:avLst/>
          </a:prstGeom>
          <a:solidFill>
            <a:srgbClr val="3A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0"/>
          <p:cNvSpPr/>
          <p:nvPr/>
        </p:nvSpPr>
        <p:spPr>
          <a:xfrm>
            <a:off x="1417320" y="3977639"/>
            <a:ext cx="1965960" cy="530352"/>
          </a:xfrm>
          <a:prstGeom prst="roundRect">
            <a:avLst>
              <a:gd fmla="val 18000" name="adj"/>
            </a:avLst>
          </a:prstGeom>
          <a:solidFill>
            <a:srgbClr val="D9754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UniFi U6-LR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3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 — Clinical Wing  ·  10.10.40.10</a:t>
            </a:r>
            <a:endParaRPr/>
          </a:p>
        </p:txBody>
      </p:sp>
      <p:cxnSp>
        <p:nvCxnSpPr>
          <p:cNvPr id="522" name="Google Shape;522;p10"/>
          <p:cNvCxnSpPr/>
          <p:nvPr/>
        </p:nvCxnSpPr>
        <p:spPr>
          <a:xfrm>
            <a:off x="6126480" y="3639312"/>
            <a:ext cx="3588900" cy="3384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6B5F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3" name="Google Shape;523;p10"/>
          <p:cNvSpPr/>
          <p:nvPr/>
        </p:nvSpPr>
        <p:spPr>
          <a:xfrm>
            <a:off x="7635240" y="3547872"/>
            <a:ext cx="822960" cy="18288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0"/>
          <p:cNvSpPr txBox="1"/>
          <p:nvPr/>
        </p:nvSpPr>
        <p:spPr>
          <a:xfrm>
            <a:off x="7635240" y="353872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Gi0/3 · PoE</a:t>
            </a:r>
            <a:endParaRPr/>
          </a:p>
        </p:txBody>
      </p:sp>
      <p:sp>
        <p:nvSpPr>
          <p:cNvPr id="525" name="Google Shape;525;p10"/>
          <p:cNvSpPr/>
          <p:nvPr/>
        </p:nvSpPr>
        <p:spPr>
          <a:xfrm>
            <a:off x="6085332" y="3598164"/>
            <a:ext cx="82296" cy="82296"/>
          </a:xfrm>
          <a:prstGeom prst="ellipse">
            <a:avLst/>
          </a:prstGeom>
          <a:solidFill>
            <a:srgbClr val="3A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0"/>
          <p:cNvSpPr/>
          <p:nvPr/>
        </p:nvSpPr>
        <p:spPr>
          <a:xfrm>
            <a:off x="9674352" y="3936491"/>
            <a:ext cx="82296" cy="82296"/>
          </a:xfrm>
          <a:prstGeom prst="ellipse">
            <a:avLst/>
          </a:prstGeom>
          <a:solidFill>
            <a:srgbClr val="3A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0"/>
          <p:cNvSpPr/>
          <p:nvPr/>
        </p:nvSpPr>
        <p:spPr>
          <a:xfrm>
            <a:off x="8732520" y="3977639"/>
            <a:ext cx="1965960" cy="530352"/>
          </a:xfrm>
          <a:prstGeom prst="roundRect">
            <a:avLst>
              <a:gd fmla="val 18000" name="adj"/>
            </a:avLst>
          </a:prstGeom>
          <a:solidFill>
            <a:srgbClr val="D9754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UniFi U6-LR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3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 — Reception / Admin  ·  10.10.40.11</a:t>
            </a:r>
            <a:endParaRPr/>
          </a:p>
        </p:txBody>
      </p:sp>
      <p:cxnSp>
        <p:nvCxnSpPr>
          <p:cNvPr id="528" name="Google Shape;528;p10"/>
          <p:cNvCxnSpPr/>
          <p:nvPr/>
        </p:nvCxnSpPr>
        <p:spPr>
          <a:xfrm flipH="1">
            <a:off x="5783580" y="3639312"/>
            <a:ext cx="342900" cy="292608"/>
          </a:xfrm>
          <a:prstGeom prst="straightConnector1">
            <a:avLst/>
          </a:prstGeom>
          <a:noFill/>
          <a:ln cap="flat" cmpd="sng" w="15875">
            <a:solidFill>
              <a:srgbClr val="6B5F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9" name="Google Shape;529;p10"/>
          <p:cNvSpPr/>
          <p:nvPr/>
        </p:nvSpPr>
        <p:spPr>
          <a:xfrm>
            <a:off x="6085332" y="3598164"/>
            <a:ext cx="82296" cy="82296"/>
          </a:xfrm>
          <a:prstGeom prst="ellipse">
            <a:avLst/>
          </a:prstGeom>
          <a:solidFill>
            <a:srgbClr val="B982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0"/>
          <p:cNvSpPr/>
          <p:nvPr/>
        </p:nvSpPr>
        <p:spPr>
          <a:xfrm>
            <a:off x="5742432" y="3890772"/>
            <a:ext cx="82296" cy="82296"/>
          </a:xfrm>
          <a:prstGeom prst="ellipse">
            <a:avLst/>
          </a:prstGeom>
          <a:solidFill>
            <a:srgbClr val="B982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0"/>
          <p:cNvSpPr/>
          <p:nvPr/>
        </p:nvSpPr>
        <p:spPr>
          <a:xfrm>
            <a:off x="5669280" y="3694176"/>
            <a:ext cx="640080" cy="18288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0"/>
          <p:cNvSpPr txBox="1"/>
          <p:nvPr/>
        </p:nvSpPr>
        <p:spPr>
          <a:xfrm>
            <a:off x="5669280" y="3685031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Gi0/4</a:t>
            </a:r>
            <a:endParaRPr/>
          </a:p>
        </p:txBody>
      </p:sp>
      <p:sp>
        <p:nvSpPr>
          <p:cNvPr id="533" name="Google Shape;533;p10"/>
          <p:cNvSpPr/>
          <p:nvPr/>
        </p:nvSpPr>
        <p:spPr>
          <a:xfrm>
            <a:off x="5440680" y="3913632"/>
            <a:ext cx="685800" cy="621792"/>
          </a:xfrm>
          <a:prstGeom prst="can">
            <a:avLst>
              <a:gd fmla="val 25000" name="adj"/>
            </a:avLst>
          </a:prstGeom>
          <a:solidFill>
            <a:srgbClr val="B9822A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NAS</a:t>
            </a:r>
            <a:endParaRPr/>
          </a:p>
        </p:txBody>
      </p:sp>
      <p:sp>
        <p:nvSpPr>
          <p:cNvPr id="534" name="Google Shape;534;p10"/>
          <p:cNvSpPr txBox="1"/>
          <p:nvPr/>
        </p:nvSpPr>
        <p:spPr>
          <a:xfrm>
            <a:off x="5074920" y="456285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10.10.40.20</a:t>
            </a:r>
            <a:endParaRPr/>
          </a:p>
        </p:txBody>
      </p:sp>
      <p:sp>
        <p:nvSpPr>
          <p:cNvPr id="535" name="Google Shape;535;p10"/>
          <p:cNvSpPr txBox="1"/>
          <p:nvPr/>
        </p:nvSpPr>
        <p:spPr>
          <a:xfrm>
            <a:off x="5166360" y="473659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VLAN 40 · Infra</a:t>
            </a:r>
            <a:endParaRPr/>
          </a:p>
        </p:txBody>
      </p:sp>
      <p:sp>
        <p:nvSpPr>
          <p:cNvPr id="536" name="Google Shape;536;p10"/>
          <p:cNvSpPr/>
          <p:nvPr/>
        </p:nvSpPr>
        <p:spPr>
          <a:xfrm>
            <a:off x="9921240" y="1783080"/>
            <a:ext cx="1463040" cy="566928"/>
          </a:xfrm>
          <a:prstGeom prst="cloud">
            <a:avLst/>
          </a:prstGeom>
          <a:solidFill>
            <a:srgbClr val="FDF1D9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Offsite Cloud Backup</a:t>
            </a:r>
            <a:endParaRPr/>
          </a:p>
        </p:txBody>
      </p:sp>
      <p:cxnSp>
        <p:nvCxnSpPr>
          <p:cNvPr id="537" name="Google Shape;537;p10"/>
          <p:cNvCxnSpPr/>
          <p:nvPr/>
        </p:nvCxnSpPr>
        <p:spPr>
          <a:xfrm>
            <a:off x="6126480" y="3840480"/>
            <a:ext cx="4709160" cy="0"/>
          </a:xfrm>
          <a:prstGeom prst="straightConnector1">
            <a:avLst/>
          </a:prstGeom>
          <a:noFill/>
          <a:ln cap="flat" cmpd="sng" w="13950">
            <a:solidFill>
              <a:srgbClr val="B9822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38" name="Google Shape;538;p10"/>
          <p:cNvCxnSpPr/>
          <p:nvPr/>
        </p:nvCxnSpPr>
        <p:spPr>
          <a:xfrm rot="10800000">
            <a:off x="10835640" y="2331720"/>
            <a:ext cx="0" cy="1508760"/>
          </a:xfrm>
          <a:prstGeom prst="straightConnector1">
            <a:avLst/>
          </a:prstGeom>
          <a:noFill/>
          <a:ln cap="flat" cmpd="sng" w="13950">
            <a:solidFill>
              <a:srgbClr val="B9822A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539" name="Google Shape;539;p10"/>
          <p:cNvSpPr/>
          <p:nvPr/>
        </p:nvSpPr>
        <p:spPr>
          <a:xfrm>
            <a:off x="914400" y="4846320"/>
            <a:ext cx="3108960" cy="1280160"/>
          </a:xfrm>
          <a:prstGeom prst="roundRect">
            <a:avLst>
              <a:gd fmla="val 5000" name="adj"/>
            </a:avLst>
          </a:prstGeom>
          <a:noFill/>
          <a:ln cap="flat" cmpd="sng" w="12700">
            <a:solidFill>
              <a:srgbClr val="E4DCC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0"/>
          <p:cNvSpPr txBox="1"/>
          <p:nvPr/>
        </p:nvSpPr>
        <p:spPr>
          <a:xfrm>
            <a:off x="1051560" y="4901183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VLAN 10 · Clinical  10.10.10.0 /24</a:t>
            </a:r>
            <a:endParaRPr/>
          </a:p>
        </p:txBody>
      </p:sp>
      <p:cxnSp>
        <p:nvCxnSpPr>
          <p:cNvPr id="541" name="Google Shape;541;p10"/>
          <p:cNvCxnSpPr/>
          <p:nvPr/>
        </p:nvCxnSpPr>
        <p:spPr>
          <a:xfrm>
            <a:off x="1354455" y="5102352"/>
            <a:ext cx="0" cy="109728"/>
          </a:xfrm>
          <a:prstGeom prst="straightConnector1">
            <a:avLst/>
          </a:prstGeom>
          <a:noFill/>
          <a:ln cap="flat" cmpd="sng" w="1270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p10"/>
          <p:cNvSpPr/>
          <p:nvPr/>
        </p:nvSpPr>
        <p:spPr>
          <a:xfrm>
            <a:off x="1217295" y="5212080"/>
            <a:ext cx="274320" cy="1828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5875">
            <a:solidFill>
              <a:srgbClr val="6B5F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0"/>
          <p:cNvSpPr/>
          <p:nvPr/>
        </p:nvSpPr>
        <p:spPr>
          <a:xfrm>
            <a:off x="1244727" y="5239512"/>
            <a:ext cx="219456" cy="128016"/>
          </a:xfrm>
          <a:prstGeom prst="roundRect">
            <a:avLst>
              <a:gd fmla="val 0" name="adj"/>
            </a:avLst>
          </a:prstGeom>
          <a:solidFill>
            <a:srgbClr val="FCF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0"/>
          <p:cNvSpPr/>
          <p:nvPr/>
        </p:nvSpPr>
        <p:spPr>
          <a:xfrm>
            <a:off x="1322451" y="5394960"/>
            <a:ext cx="64008" cy="41148"/>
          </a:xfrm>
          <a:prstGeom prst="roundRect">
            <a:avLst>
              <a:gd fmla="val 0" name="adj"/>
            </a:avLst>
          </a:prstGeom>
          <a:solidFill>
            <a:srgbClr val="6B5F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0"/>
          <p:cNvSpPr/>
          <p:nvPr/>
        </p:nvSpPr>
        <p:spPr>
          <a:xfrm>
            <a:off x="1253870" y="5436108"/>
            <a:ext cx="201168" cy="27432"/>
          </a:xfrm>
          <a:prstGeom prst="roundRect">
            <a:avLst>
              <a:gd fmla="val 50000" name="adj"/>
            </a:avLst>
          </a:prstGeom>
          <a:solidFill>
            <a:srgbClr val="6B5F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0"/>
          <p:cNvSpPr txBox="1"/>
          <p:nvPr/>
        </p:nvSpPr>
        <p:spPr>
          <a:xfrm>
            <a:off x="1051560" y="5481828"/>
            <a:ext cx="60579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 1</a:t>
            </a:r>
            <a:endParaRPr/>
          </a:p>
        </p:txBody>
      </p:sp>
      <p:sp>
        <p:nvSpPr>
          <p:cNvPr id="547" name="Google Shape;547;p10"/>
          <p:cNvSpPr txBox="1"/>
          <p:nvPr/>
        </p:nvSpPr>
        <p:spPr>
          <a:xfrm>
            <a:off x="1051560" y="5664708"/>
            <a:ext cx="60579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.11</a:t>
            </a:r>
            <a:endParaRPr/>
          </a:p>
        </p:txBody>
      </p:sp>
      <p:cxnSp>
        <p:nvCxnSpPr>
          <p:cNvPr id="548" name="Google Shape;548;p10"/>
          <p:cNvCxnSpPr/>
          <p:nvPr/>
        </p:nvCxnSpPr>
        <p:spPr>
          <a:xfrm>
            <a:off x="2097405" y="5102352"/>
            <a:ext cx="0" cy="109728"/>
          </a:xfrm>
          <a:prstGeom prst="straightConnector1">
            <a:avLst/>
          </a:prstGeom>
          <a:noFill/>
          <a:ln cap="flat" cmpd="sng" w="1270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9" name="Google Shape;549;p10"/>
          <p:cNvSpPr/>
          <p:nvPr/>
        </p:nvSpPr>
        <p:spPr>
          <a:xfrm>
            <a:off x="1960245" y="5212080"/>
            <a:ext cx="274320" cy="1828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5875">
            <a:solidFill>
              <a:srgbClr val="6B5F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0"/>
          <p:cNvSpPr/>
          <p:nvPr/>
        </p:nvSpPr>
        <p:spPr>
          <a:xfrm>
            <a:off x="1987677" y="5239512"/>
            <a:ext cx="219456" cy="128016"/>
          </a:xfrm>
          <a:prstGeom prst="roundRect">
            <a:avLst>
              <a:gd fmla="val 0" name="adj"/>
            </a:avLst>
          </a:prstGeom>
          <a:solidFill>
            <a:srgbClr val="FCF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0"/>
          <p:cNvSpPr/>
          <p:nvPr/>
        </p:nvSpPr>
        <p:spPr>
          <a:xfrm>
            <a:off x="2065401" y="5394960"/>
            <a:ext cx="64008" cy="41148"/>
          </a:xfrm>
          <a:prstGeom prst="roundRect">
            <a:avLst>
              <a:gd fmla="val 0" name="adj"/>
            </a:avLst>
          </a:prstGeom>
          <a:solidFill>
            <a:srgbClr val="6B5F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0"/>
          <p:cNvSpPr/>
          <p:nvPr/>
        </p:nvSpPr>
        <p:spPr>
          <a:xfrm>
            <a:off x="1996821" y="5436108"/>
            <a:ext cx="201168" cy="27432"/>
          </a:xfrm>
          <a:prstGeom prst="roundRect">
            <a:avLst>
              <a:gd fmla="val 50000" name="adj"/>
            </a:avLst>
          </a:prstGeom>
          <a:solidFill>
            <a:srgbClr val="6B5F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0"/>
          <p:cNvSpPr txBox="1"/>
          <p:nvPr/>
        </p:nvSpPr>
        <p:spPr>
          <a:xfrm>
            <a:off x="1794510" y="5481828"/>
            <a:ext cx="60579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 2</a:t>
            </a:r>
            <a:endParaRPr/>
          </a:p>
        </p:txBody>
      </p:sp>
      <p:sp>
        <p:nvSpPr>
          <p:cNvPr id="554" name="Google Shape;554;p10"/>
          <p:cNvSpPr txBox="1"/>
          <p:nvPr/>
        </p:nvSpPr>
        <p:spPr>
          <a:xfrm>
            <a:off x="1794510" y="5664708"/>
            <a:ext cx="60579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.12</a:t>
            </a:r>
            <a:endParaRPr/>
          </a:p>
        </p:txBody>
      </p:sp>
      <p:cxnSp>
        <p:nvCxnSpPr>
          <p:cNvPr id="555" name="Google Shape;555;p10"/>
          <p:cNvCxnSpPr/>
          <p:nvPr/>
        </p:nvCxnSpPr>
        <p:spPr>
          <a:xfrm>
            <a:off x="2840355" y="5102352"/>
            <a:ext cx="0" cy="109728"/>
          </a:xfrm>
          <a:prstGeom prst="straightConnector1">
            <a:avLst/>
          </a:prstGeom>
          <a:noFill/>
          <a:ln cap="flat" cmpd="sng" w="1270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6" name="Google Shape;556;p10"/>
          <p:cNvSpPr/>
          <p:nvPr/>
        </p:nvSpPr>
        <p:spPr>
          <a:xfrm>
            <a:off x="2703195" y="5212080"/>
            <a:ext cx="274320" cy="1828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5875">
            <a:solidFill>
              <a:srgbClr val="6B5F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0"/>
          <p:cNvSpPr/>
          <p:nvPr/>
        </p:nvSpPr>
        <p:spPr>
          <a:xfrm>
            <a:off x="2730627" y="5239512"/>
            <a:ext cx="219456" cy="128016"/>
          </a:xfrm>
          <a:prstGeom prst="roundRect">
            <a:avLst>
              <a:gd fmla="val 0" name="adj"/>
            </a:avLst>
          </a:prstGeom>
          <a:solidFill>
            <a:srgbClr val="FCF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0"/>
          <p:cNvSpPr/>
          <p:nvPr/>
        </p:nvSpPr>
        <p:spPr>
          <a:xfrm>
            <a:off x="2808351" y="5394960"/>
            <a:ext cx="64008" cy="41148"/>
          </a:xfrm>
          <a:prstGeom prst="roundRect">
            <a:avLst>
              <a:gd fmla="val 0" name="adj"/>
            </a:avLst>
          </a:prstGeom>
          <a:solidFill>
            <a:srgbClr val="6B5F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0"/>
          <p:cNvSpPr/>
          <p:nvPr/>
        </p:nvSpPr>
        <p:spPr>
          <a:xfrm>
            <a:off x="2739771" y="5436108"/>
            <a:ext cx="201168" cy="27432"/>
          </a:xfrm>
          <a:prstGeom prst="roundRect">
            <a:avLst>
              <a:gd fmla="val 50000" name="adj"/>
            </a:avLst>
          </a:prstGeom>
          <a:solidFill>
            <a:srgbClr val="6B5F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0"/>
          <p:cNvSpPr txBox="1"/>
          <p:nvPr/>
        </p:nvSpPr>
        <p:spPr>
          <a:xfrm>
            <a:off x="2537460" y="5481828"/>
            <a:ext cx="60579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 3</a:t>
            </a:r>
            <a:endParaRPr/>
          </a:p>
        </p:txBody>
      </p:sp>
      <p:sp>
        <p:nvSpPr>
          <p:cNvPr id="561" name="Google Shape;561;p10"/>
          <p:cNvSpPr txBox="1"/>
          <p:nvPr/>
        </p:nvSpPr>
        <p:spPr>
          <a:xfrm>
            <a:off x="2537460" y="5664708"/>
            <a:ext cx="60579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.13</a:t>
            </a:r>
            <a:endParaRPr/>
          </a:p>
        </p:txBody>
      </p:sp>
      <p:cxnSp>
        <p:nvCxnSpPr>
          <p:cNvPr id="562" name="Google Shape;562;p10"/>
          <p:cNvCxnSpPr/>
          <p:nvPr/>
        </p:nvCxnSpPr>
        <p:spPr>
          <a:xfrm>
            <a:off x="3583305" y="5102352"/>
            <a:ext cx="0" cy="109728"/>
          </a:xfrm>
          <a:prstGeom prst="straightConnector1">
            <a:avLst/>
          </a:prstGeom>
          <a:noFill/>
          <a:ln cap="flat" cmpd="sng" w="1270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3" name="Google Shape;563;p10"/>
          <p:cNvSpPr/>
          <p:nvPr/>
        </p:nvSpPr>
        <p:spPr>
          <a:xfrm>
            <a:off x="3446145" y="5212080"/>
            <a:ext cx="274320" cy="1828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5875">
            <a:solidFill>
              <a:srgbClr val="6B5F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0"/>
          <p:cNvSpPr/>
          <p:nvPr/>
        </p:nvSpPr>
        <p:spPr>
          <a:xfrm>
            <a:off x="3473577" y="5239512"/>
            <a:ext cx="219456" cy="128016"/>
          </a:xfrm>
          <a:prstGeom prst="roundRect">
            <a:avLst>
              <a:gd fmla="val 0" name="adj"/>
            </a:avLst>
          </a:prstGeom>
          <a:solidFill>
            <a:srgbClr val="FCF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0"/>
          <p:cNvSpPr/>
          <p:nvPr/>
        </p:nvSpPr>
        <p:spPr>
          <a:xfrm>
            <a:off x="3551301" y="5394960"/>
            <a:ext cx="64008" cy="41148"/>
          </a:xfrm>
          <a:prstGeom prst="roundRect">
            <a:avLst>
              <a:gd fmla="val 0" name="adj"/>
            </a:avLst>
          </a:prstGeom>
          <a:solidFill>
            <a:srgbClr val="6B5F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0"/>
          <p:cNvSpPr/>
          <p:nvPr/>
        </p:nvSpPr>
        <p:spPr>
          <a:xfrm>
            <a:off x="3482721" y="5436108"/>
            <a:ext cx="201168" cy="27432"/>
          </a:xfrm>
          <a:prstGeom prst="roundRect">
            <a:avLst>
              <a:gd fmla="val 50000" name="adj"/>
            </a:avLst>
          </a:prstGeom>
          <a:solidFill>
            <a:srgbClr val="6B5F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0"/>
          <p:cNvSpPr txBox="1"/>
          <p:nvPr/>
        </p:nvSpPr>
        <p:spPr>
          <a:xfrm>
            <a:off x="3280410" y="5481828"/>
            <a:ext cx="60579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Specialist</a:t>
            </a:r>
            <a:endParaRPr/>
          </a:p>
        </p:txBody>
      </p:sp>
      <p:sp>
        <p:nvSpPr>
          <p:cNvPr id="568" name="Google Shape;568;p10"/>
          <p:cNvSpPr txBox="1"/>
          <p:nvPr/>
        </p:nvSpPr>
        <p:spPr>
          <a:xfrm>
            <a:off x="3280410" y="5664708"/>
            <a:ext cx="60579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.14</a:t>
            </a:r>
            <a:endParaRPr/>
          </a:p>
        </p:txBody>
      </p:sp>
      <p:cxnSp>
        <p:nvCxnSpPr>
          <p:cNvPr id="569" name="Google Shape;569;p10"/>
          <p:cNvCxnSpPr/>
          <p:nvPr/>
        </p:nvCxnSpPr>
        <p:spPr>
          <a:xfrm>
            <a:off x="2400300" y="4507992"/>
            <a:ext cx="68580" cy="338328"/>
          </a:xfrm>
          <a:prstGeom prst="straightConnector1">
            <a:avLst/>
          </a:prstGeom>
          <a:noFill/>
          <a:ln cap="flat" cmpd="sng" w="13950">
            <a:solidFill>
              <a:srgbClr val="D975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0" name="Google Shape;570;p10"/>
          <p:cNvSpPr/>
          <p:nvPr/>
        </p:nvSpPr>
        <p:spPr>
          <a:xfrm>
            <a:off x="7635240" y="4846320"/>
            <a:ext cx="3566160" cy="1280160"/>
          </a:xfrm>
          <a:prstGeom prst="roundRect">
            <a:avLst>
              <a:gd fmla="val 5000" name="adj"/>
            </a:avLst>
          </a:prstGeom>
          <a:noFill/>
          <a:ln cap="flat" cmpd="sng" w="12700">
            <a:solidFill>
              <a:srgbClr val="E4DCC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0"/>
          <p:cNvSpPr txBox="1"/>
          <p:nvPr/>
        </p:nvSpPr>
        <p:spPr>
          <a:xfrm>
            <a:off x="7772400" y="4901183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VLAN 20 · Admin &amp; Reception  10.10.20.0 /24</a:t>
            </a:r>
            <a:endParaRPr/>
          </a:p>
        </p:txBody>
      </p:sp>
      <p:cxnSp>
        <p:nvCxnSpPr>
          <p:cNvPr id="572" name="Google Shape;572;p10"/>
          <p:cNvCxnSpPr/>
          <p:nvPr/>
        </p:nvCxnSpPr>
        <p:spPr>
          <a:xfrm>
            <a:off x="8132445" y="5102352"/>
            <a:ext cx="0" cy="109728"/>
          </a:xfrm>
          <a:prstGeom prst="straightConnector1">
            <a:avLst/>
          </a:prstGeom>
          <a:noFill/>
          <a:ln cap="flat" cmpd="sng" w="1270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3" name="Google Shape;573;p10"/>
          <p:cNvSpPr/>
          <p:nvPr/>
        </p:nvSpPr>
        <p:spPr>
          <a:xfrm>
            <a:off x="7995285" y="5212080"/>
            <a:ext cx="274320" cy="1828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5875">
            <a:solidFill>
              <a:srgbClr val="6B5F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0"/>
          <p:cNvSpPr/>
          <p:nvPr/>
        </p:nvSpPr>
        <p:spPr>
          <a:xfrm>
            <a:off x="8022717" y="5239512"/>
            <a:ext cx="219456" cy="128016"/>
          </a:xfrm>
          <a:prstGeom prst="roundRect">
            <a:avLst>
              <a:gd fmla="val 0" name="adj"/>
            </a:avLst>
          </a:prstGeom>
          <a:solidFill>
            <a:srgbClr val="FCF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0"/>
          <p:cNvSpPr/>
          <p:nvPr/>
        </p:nvSpPr>
        <p:spPr>
          <a:xfrm>
            <a:off x="8100441" y="5394960"/>
            <a:ext cx="64008" cy="41148"/>
          </a:xfrm>
          <a:prstGeom prst="roundRect">
            <a:avLst>
              <a:gd fmla="val 0" name="adj"/>
            </a:avLst>
          </a:prstGeom>
          <a:solidFill>
            <a:srgbClr val="6B5F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0"/>
          <p:cNvSpPr/>
          <p:nvPr/>
        </p:nvSpPr>
        <p:spPr>
          <a:xfrm>
            <a:off x="8031861" y="5436108"/>
            <a:ext cx="201168" cy="27432"/>
          </a:xfrm>
          <a:prstGeom prst="roundRect">
            <a:avLst>
              <a:gd fmla="val 50000" name="adj"/>
            </a:avLst>
          </a:prstGeom>
          <a:solidFill>
            <a:srgbClr val="6B5F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0"/>
          <p:cNvSpPr txBox="1"/>
          <p:nvPr/>
        </p:nvSpPr>
        <p:spPr>
          <a:xfrm>
            <a:off x="7772400" y="5481828"/>
            <a:ext cx="72009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Recep. 1</a:t>
            </a:r>
            <a:endParaRPr/>
          </a:p>
        </p:txBody>
      </p:sp>
      <p:sp>
        <p:nvSpPr>
          <p:cNvPr id="578" name="Google Shape;578;p10"/>
          <p:cNvSpPr txBox="1"/>
          <p:nvPr/>
        </p:nvSpPr>
        <p:spPr>
          <a:xfrm>
            <a:off x="7772400" y="5664708"/>
            <a:ext cx="72009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.11</a:t>
            </a:r>
            <a:endParaRPr/>
          </a:p>
        </p:txBody>
      </p:sp>
      <p:cxnSp>
        <p:nvCxnSpPr>
          <p:cNvPr id="579" name="Google Shape;579;p10"/>
          <p:cNvCxnSpPr/>
          <p:nvPr/>
        </p:nvCxnSpPr>
        <p:spPr>
          <a:xfrm>
            <a:off x="8989695" y="5102352"/>
            <a:ext cx="0" cy="109728"/>
          </a:xfrm>
          <a:prstGeom prst="straightConnector1">
            <a:avLst/>
          </a:prstGeom>
          <a:noFill/>
          <a:ln cap="flat" cmpd="sng" w="1270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0" name="Google Shape;580;p10"/>
          <p:cNvSpPr/>
          <p:nvPr/>
        </p:nvSpPr>
        <p:spPr>
          <a:xfrm>
            <a:off x="8852535" y="5212080"/>
            <a:ext cx="274320" cy="1828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5875">
            <a:solidFill>
              <a:srgbClr val="6B5F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0"/>
          <p:cNvSpPr/>
          <p:nvPr/>
        </p:nvSpPr>
        <p:spPr>
          <a:xfrm>
            <a:off x="8879967" y="5239512"/>
            <a:ext cx="219456" cy="128016"/>
          </a:xfrm>
          <a:prstGeom prst="roundRect">
            <a:avLst>
              <a:gd fmla="val 0" name="adj"/>
            </a:avLst>
          </a:prstGeom>
          <a:solidFill>
            <a:srgbClr val="FCF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0"/>
          <p:cNvSpPr/>
          <p:nvPr/>
        </p:nvSpPr>
        <p:spPr>
          <a:xfrm>
            <a:off x="8957691" y="5394960"/>
            <a:ext cx="64008" cy="41148"/>
          </a:xfrm>
          <a:prstGeom prst="roundRect">
            <a:avLst>
              <a:gd fmla="val 0" name="adj"/>
            </a:avLst>
          </a:prstGeom>
          <a:solidFill>
            <a:srgbClr val="6B5F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0"/>
          <p:cNvSpPr/>
          <p:nvPr/>
        </p:nvSpPr>
        <p:spPr>
          <a:xfrm>
            <a:off x="8889111" y="5436108"/>
            <a:ext cx="201168" cy="27432"/>
          </a:xfrm>
          <a:prstGeom prst="roundRect">
            <a:avLst>
              <a:gd fmla="val 50000" name="adj"/>
            </a:avLst>
          </a:prstGeom>
          <a:solidFill>
            <a:srgbClr val="6B5F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0"/>
          <p:cNvSpPr txBox="1"/>
          <p:nvPr/>
        </p:nvSpPr>
        <p:spPr>
          <a:xfrm>
            <a:off x="8629650" y="5481828"/>
            <a:ext cx="72009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Recep. 2</a:t>
            </a:r>
            <a:endParaRPr/>
          </a:p>
        </p:txBody>
      </p:sp>
      <p:sp>
        <p:nvSpPr>
          <p:cNvPr id="585" name="Google Shape;585;p10"/>
          <p:cNvSpPr txBox="1"/>
          <p:nvPr/>
        </p:nvSpPr>
        <p:spPr>
          <a:xfrm>
            <a:off x="8629650" y="5664708"/>
            <a:ext cx="72009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.12</a:t>
            </a:r>
            <a:endParaRPr/>
          </a:p>
        </p:txBody>
      </p:sp>
      <p:cxnSp>
        <p:nvCxnSpPr>
          <p:cNvPr id="586" name="Google Shape;586;p10"/>
          <p:cNvCxnSpPr/>
          <p:nvPr/>
        </p:nvCxnSpPr>
        <p:spPr>
          <a:xfrm>
            <a:off x="9846945" y="5102352"/>
            <a:ext cx="0" cy="109728"/>
          </a:xfrm>
          <a:prstGeom prst="straightConnector1">
            <a:avLst/>
          </a:prstGeom>
          <a:noFill/>
          <a:ln cap="flat" cmpd="sng" w="1270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7" name="Google Shape;587;p10"/>
          <p:cNvSpPr/>
          <p:nvPr/>
        </p:nvSpPr>
        <p:spPr>
          <a:xfrm>
            <a:off x="9718929" y="5212080"/>
            <a:ext cx="256032" cy="18288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5875">
            <a:solidFill>
              <a:srgbClr val="6B5F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8" name="Google Shape;588;p10"/>
          <p:cNvCxnSpPr/>
          <p:nvPr/>
        </p:nvCxnSpPr>
        <p:spPr>
          <a:xfrm>
            <a:off x="9746361" y="5288889"/>
            <a:ext cx="201168" cy="0"/>
          </a:xfrm>
          <a:prstGeom prst="straightConnector1">
            <a:avLst/>
          </a:prstGeom>
          <a:noFill/>
          <a:ln cap="flat" cmpd="sng" w="12700">
            <a:solidFill>
              <a:srgbClr val="6B5F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9" name="Google Shape;589;p10"/>
          <p:cNvSpPr txBox="1"/>
          <p:nvPr/>
        </p:nvSpPr>
        <p:spPr>
          <a:xfrm>
            <a:off x="9486900" y="5413248"/>
            <a:ext cx="72009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Printer</a:t>
            </a:r>
            <a:endParaRPr/>
          </a:p>
        </p:txBody>
      </p:sp>
      <p:sp>
        <p:nvSpPr>
          <p:cNvPr id="590" name="Google Shape;590;p10"/>
          <p:cNvSpPr txBox="1"/>
          <p:nvPr/>
        </p:nvSpPr>
        <p:spPr>
          <a:xfrm>
            <a:off x="9486900" y="5596128"/>
            <a:ext cx="72009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.13</a:t>
            </a:r>
            <a:endParaRPr/>
          </a:p>
        </p:txBody>
      </p:sp>
      <p:cxnSp>
        <p:nvCxnSpPr>
          <p:cNvPr id="591" name="Google Shape;591;p10"/>
          <p:cNvCxnSpPr/>
          <p:nvPr/>
        </p:nvCxnSpPr>
        <p:spPr>
          <a:xfrm>
            <a:off x="10704195" y="5102352"/>
            <a:ext cx="0" cy="109728"/>
          </a:xfrm>
          <a:prstGeom prst="straightConnector1">
            <a:avLst/>
          </a:prstGeom>
          <a:noFill/>
          <a:ln cap="flat" cmpd="sng" w="1270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2" name="Google Shape;592;p10"/>
          <p:cNvSpPr/>
          <p:nvPr/>
        </p:nvSpPr>
        <p:spPr>
          <a:xfrm>
            <a:off x="10567035" y="5212080"/>
            <a:ext cx="274320" cy="1828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5875">
            <a:solidFill>
              <a:srgbClr val="6B5F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0"/>
          <p:cNvSpPr/>
          <p:nvPr/>
        </p:nvSpPr>
        <p:spPr>
          <a:xfrm>
            <a:off x="10594467" y="5239512"/>
            <a:ext cx="219456" cy="128016"/>
          </a:xfrm>
          <a:prstGeom prst="roundRect">
            <a:avLst>
              <a:gd fmla="val 0" name="adj"/>
            </a:avLst>
          </a:prstGeom>
          <a:solidFill>
            <a:srgbClr val="FCF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0"/>
          <p:cNvSpPr/>
          <p:nvPr/>
        </p:nvSpPr>
        <p:spPr>
          <a:xfrm>
            <a:off x="10672191" y="5394960"/>
            <a:ext cx="64008" cy="41148"/>
          </a:xfrm>
          <a:prstGeom prst="roundRect">
            <a:avLst>
              <a:gd fmla="val 0" name="adj"/>
            </a:avLst>
          </a:prstGeom>
          <a:solidFill>
            <a:srgbClr val="6B5F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0"/>
          <p:cNvSpPr/>
          <p:nvPr/>
        </p:nvSpPr>
        <p:spPr>
          <a:xfrm>
            <a:off x="10603611" y="5436108"/>
            <a:ext cx="201168" cy="27432"/>
          </a:xfrm>
          <a:prstGeom prst="roundRect">
            <a:avLst>
              <a:gd fmla="val 50000" name="adj"/>
            </a:avLst>
          </a:prstGeom>
          <a:solidFill>
            <a:srgbClr val="6B5F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0"/>
          <p:cNvSpPr txBox="1"/>
          <p:nvPr/>
        </p:nvSpPr>
        <p:spPr>
          <a:xfrm>
            <a:off x="10344150" y="5481828"/>
            <a:ext cx="72009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Nurse</a:t>
            </a:r>
            <a:endParaRPr/>
          </a:p>
        </p:txBody>
      </p:sp>
      <p:sp>
        <p:nvSpPr>
          <p:cNvPr id="597" name="Google Shape;597;p10"/>
          <p:cNvSpPr txBox="1"/>
          <p:nvPr/>
        </p:nvSpPr>
        <p:spPr>
          <a:xfrm>
            <a:off x="10344150" y="5664708"/>
            <a:ext cx="72009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.14</a:t>
            </a:r>
            <a:endParaRPr/>
          </a:p>
        </p:txBody>
      </p:sp>
      <p:cxnSp>
        <p:nvCxnSpPr>
          <p:cNvPr id="598" name="Google Shape;598;p10"/>
          <p:cNvCxnSpPr/>
          <p:nvPr/>
        </p:nvCxnSpPr>
        <p:spPr>
          <a:xfrm flipH="1">
            <a:off x="9418320" y="4507992"/>
            <a:ext cx="297180" cy="338328"/>
          </a:xfrm>
          <a:prstGeom prst="straightConnector1">
            <a:avLst/>
          </a:prstGeom>
          <a:noFill/>
          <a:ln cap="flat" cmpd="sng" w="13950">
            <a:solidFill>
              <a:srgbClr val="D975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9" name="Google Shape;599;p10"/>
          <p:cNvSpPr/>
          <p:nvPr/>
        </p:nvSpPr>
        <p:spPr>
          <a:xfrm>
            <a:off x="4251960" y="5394960"/>
            <a:ext cx="2788920" cy="777240"/>
          </a:xfrm>
          <a:prstGeom prst="roundRect">
            <a:avLst>
              <a:gd fmla="val 5000" name="adj"/>
            </a:avLst>
          </a:prstGeom>
          <a:noFill/>
          <a:ln cap="flat" cmpd="sng" w="12700">
            <a:solidFill>
              <a:srgbClr val="E4DCC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0"/>
          <p:cNvSpPr txBox="1"/>
          <p:nvPr/>
        </p:nvSpPr>
        <p:spPr>
          <a:xfrm>
            <a:off x="4389120" y="5449824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VLAN 30 · Guest Wi-Fi  10.10.30.0 /24</a:t>
            </a:r>
            <a:endParaRPr/>
          </a:p>
        </p:txBody>
      </p:sp>
      <p:sp>
        <p:nvSpPr>
          <p:cNvPr id="601" name="Google Shape;601;p10"/>
          <p:cNvSpPr txBox="1"/>
          <p:nvPr/>
        </p:nvSpPr>
        <p:spPr>
          <a:xfrm>
            <a:off x="4389120" y="5687568"/>
            <a:ext cx="2514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Patient devices — isolated, no LAN access · DHCP</a:t>
            </a:r>
            <a:endParaRPr/>
          </a:p>
        </p:txBody>
      </p:sp>
      <p:cxnSp>
        <p:nvCxnSpPr>
          <p:cNvPr id="602" name="Google Shape;602;p10"/>
          <p:cNvCxnSpPr/>
          <p:nvPr/>
        </p:nvCxnSpPr>
        <p:spPr>
          <a:xfrm>
            <a:off x="2400300" y="4507992"/>
            <a:ext cx="2400300" cy="886968"/>
          </a:xfrm>
          <a:prstGeom prst="straightConnector1">
            <a:avLst/>
          </a:prstGeom>
          <a:noFill/>
          <a:ln cap="flat" cmpd="sng" w="12700">
            <a:solidFill>
              <a:srgbClr val="D9754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3" name="Google Shape;603;p10"/>
          <p:cNvCxnSpPr/>
          <p:nvPr/>
        </p:nvCxnSpPr>
        <p:spPr>
          <a:xfrm flipH="1">
            <a:off x="6492240" y="4507992"/>
            <a:ext cx="3223260" cy="886968"/>
          </a:xfrm>
          <a:prstGeom prst="straightConnector1">
            <a:avLst/>
          </a:prstGeom>
          <a:noFill/>
          <a:ln cap="flat" cmpd="sng" w="12700">
            <a:solidFill>
              <a:srgbClr val="D9754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4" name="Google Shape;604;p10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605" name="Google Shape;6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10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607" name="Google Shape;607;p10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Diagram</a:t>
            </a:r>
            <a:endParaRPr/>
          </a:p>
        </p:txBody>
      </p:sp>
      <p:sp>
        <p:nvSpPr>
          <p:cNvPr id="608" name="Google Shape;608;p10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 / 26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1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ICT SOLUTIONS · APPLICATIONS FOR CLIENTS</a:t>
            </a:r>
            <a:endParaRPr/>
          </a:p>
        </p:txBody>
      </p:sp>
      <p:sp>
        <p:nvSpPr>
          <p:cNvPr id="615" name="Google Shape;615;p11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Applications for Clients</a:t>
            </a:r>
            <a:endParaRPr/>
          </a:p>
        </p:txBody>
      </p:sp>
      <p:sp>
        <p:nvSpPr>
          <p:cNvPr id="616" name="Google Shape;616;p11"/>
          <p:cNvSpPr txBox="1"/>
          <p:nvPr/>
        </p:nvSpPr>
        <p:spPr>
          <a:xfrm>
            <a:off x="502920" y="13258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interface, features &amp; how they benefit the business</a:t>
            </a:r>
            <a:endParaRPr/>
          </a:p>
        </p:txBody>
      </p:sp>
      <p:sp>
        <p:nvSpPr>
          <p:cNvPr id="617" name="Google Shape;617;p11"/>
          <p:cNvSpPr/>
          <p:nvPr/>
        </p:nvSpPr>
        <p:spPr>
          <a:xfrm>
            <a:off x="502920" y="169164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1"/>
          <p:cNvSpPr/>
          <p:nvPr/>
        </p:nvSpPr>
        <p:spPr>
          <a:xfrm>
            <a:off x="502920" y="1783080"/>
            <a:ext cx="5029200" cy="475488"/>
          </a:xfrm>
          <a:prstGeom prst="flowChartTerminator">
            <a:avLst/>
          </a:prstGeom>
          <a:solidFill>
            <a:srgbClr val="2F8577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Patient Books Online or Calls Reception</a:t>
            </a:r>
            <a:endParaRPr/>
          </a:p>
        </p:txBody>
      </p:sp>
      <p:cxnSp>
        <p:nvCxnSpPr>
          <p:cNvPr id="619" name="Google Shape;619;p11"/>
          <p:cNvCxnSpPr/>
          <p:nvPr/>
        </p:nvCxnSpPr>
        <p:spPr>
          <a:xfrm>
            <a:off x="3017520" y="2258568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6B5F5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20" name="Google Shape;620;p11"/>
          <p:cNvSpPr/>
          <p:nvPr/>
        </p:nvSpPr>
        <p:spPr>
          <a:xfrm>
            <a:off x="502920" y="2441448"/>
            <a:ext cx="5029200" cy="475488"/>
          </a:xfrm>
          <a:prstGeom prst="flowChartProcess">
            <a:avLst/>
          </a:prstGeom>
          <a:solidFill>
            <a:srgbClr val="D9754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HotDoc Confirms + Sends SMS / Email Reminder</a:t>
            </a:r>
            <a:endParaRPr/>
          </a:p>
        </p:txBody>
      </p:sp>
      <p:cxnSp>
        <p:nvCxnSpPr>
          <p:cNvPr id="621" name="Google Shape;621;p11"/>
          <p:cNvCxnSpPr/>
          <p:nvPr/>
        </p:nvCxnSpPr>
        <p:spPr>
          <a:xfrm>
            <a:off x="3017520" y="2916936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6B5F5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22" name="Google Shape;622;p11"/>
          <p:cNvSpPr/>
          <p:nvPr/>
        </p:nvSpPr>
        <p:spPr>
          <a:xfrm>
            <a:off x="502920" y="3099815"/>
            <a:ext cx="5029200" cy="475488"/>
          </a:xfrm>
          <a:prstGeom prst="flowChartProcess">
            <a:avLst/>
          </a:prstGeom>
          <a:solidFill>
            <a:srgbClr val="D9754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Best Practice Bp Premier — Clinical Record Updated</a:t>
            </a:r>
            <a:endParaRPr/>
          </a:p>
        </p:txBody>
      </p:sp>
      <p:cxnSp>
        <p:nvCxnSpPr>
          <p:cNvPr id="623" name="Google Shape;623;p11"/>
          <p:cNvCxnSpPr/>
          <p:nvPr/>
        </p:nvCxnSpPr>
        <p:spPr>
          <a:xfrm>
            <a:off x="3017520" y="3575303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6B5F5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24" name="Google Shape;624;p11"/>
          <p:cNvSpPr/>
          <p:nvPr/>
        </p:nvSpPr>
        <p:spPr>
          <a:xfrm>
            <a:off x="502920" y="3758184"/>
            <a:ext cx="5029200" cy="475488"/>
          </a:xfrm>
          <a:prstGeom prst="flowChartTerminator">
            <a:avLst/>
          </a:prstGeom>
          <a:solidFill>
            <a:srgbClr val="2F8577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Automated Recall / Follow-up Scheduled</a:t>
            </a:r>
            <a:endParaRPr/>
          </a:p>
        </p:txBody>
      </p:sp>
      <p:sp>
        <p:nvSpPr>
          <p:cNvPr id="625" name="Google Shape;625;p11"/>
          <p:cNvSpPr txBox="1"/>
          <p:nvPr/>
        </p:nvSpPr>
        <p:spPr>
          <a:xfrm>
            <a:off x="502920" y="4553712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FEATURES</a:t>
            </a:r>
            <a:endParaRPr/>
          </a:p>
        </p:txBody>
      </p:sp>
      <p:sp>
        <p:nvSpPr>
          <p:cNvPr id="626" name="Google Shape;626;p11"/>
          <p:cNvSpPr txBox="1"/>
          <p:nvPr/>
        </p:nvSpPr>
        <p:spPr>
          <a:xfrm>
            <a:off x="502920" y="4809744"/>
            <a:ext cx="23774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869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Online booking synced live with Best Practice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869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Automated SMS / email appointment reminders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869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Two-way confirm / reschedule replies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869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Automated recall prompts (care plans, screenings)</a:t>
            </a:r>
            <a:endParaRPr/>
          </a:p>
        </p:txBody>
      </p:sp>
      <p:sp>
        <p:nvSpPr>
          <p:cNvPr id="627" name="Google Shape;627;p11"/>
          <p:cNvSpPr txBox="1"/>
          <p:nvPr/>
        </p:nvSpPr>
        <p:spPr>
          <a:xfrm>
            <a:off x="3154680" y="4553712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BENEFIT</a:t>
            </a:r>
            <a:endParaRPr/>
          </a:p>
        </p:txBody>
      </p:sp>
      <p:sp>
        <p:nvSpPr>
          <p:cNvPr id="628" name="Google Shape;628;p11"/>
          <p:cNvSpPr txBox="1"/>
          <p:nvPr/>
        </p:nvSpPr>
        <p:spPr>
          <a:xfrm>
            <a:off x="3154680" y="4809744"/>
            <a:ext cx="23774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869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Directly targets missed appointments (Pain Point #4)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869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Reception spends less time on reminder phone calls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869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Higher attendance protects Medicare billing revenue</a:t>
            </a:r>
            <a:endParaRPr/>
          </a:p>
        </p:txBody>
      </p:sp>
      <p:sp>
        <p:nvSpPr>
          <p:cNvPr id="629" name="Google Shape;629;p11"/>
          <p:cNvSpPr/>
          <p:nvPr/>
        </p:nvSpPr>
        <p:spPr>
          <a:xfrm>
            <a:off x="7818120" y="1783080"/>
            <a:ext cx="2148840" cy="3977639"/>
          </a:xfrm>
          <a:prstGeom prst="roundRect">
            <a:avLst>
              <a:gd fmla="val 14000" name="adj"/>
            </a:avLst>
          </a:prstGeom>
          <a:solidFill>
            <a:srgbClr val="362E27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1"/>
          <p:cNvSpPr/>
          <p:nvPr/>
        </p:nvSpPr>
        <p:spPr>
          <a:xfrm>
            <a:off x="7918704" y="1929384"/>
            <a:ext cx="1947672" cy="3685031"/>
          </a:xfrm>
          <a:prstGeom prst="roundRect">
            <a:avLst>
              <a:gd fmla="val 8000" name="adj"/>
            </a:avLst>
          </a:prstGeom>
          <a:solidFill>
            <a:srgbClr val="FCF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1"/>
          <p:cNvSpPr txBox="1"/>
          <p:nvPr/>
        </p:nvSpPr>
        <p:spPr>
          <a:xfrm>
            <a:off x="7918704" y="2002536"/>
            <a:ext cx="1947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9:41</a:t>
            </a:r>
            <a:endParaRPr/>
          </a:p>
        </p:txBody>
      </p:sp>
      <p:sp>
        <p:nvSpPr>
          <p:cNvPr id="632" name="Google Shape;632;p11"/>
          <p:cNvSpPr/>
          <p:nvPr/>
        </p:nvSpPr>
        <p:spPr>
          <a:xfrm>
            <a:off x="8037576" y="2377440"/>
            <a:ext cx="1709928" cy="141732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1"/>
          <p:cNvSpPr txBox="1"/>
          <p:nvPr/>
        </p:nvSpPr>
        <p:spPr>
          <a:xfrm>
            <a:off x="8156448" y="2468880"/>
            <a:ext cx="147218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Simmons Medical Practice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Reminder: appt with Dr Simmons, Tue 10:30am.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Reply C to confirm or R to reschedule.</a:t>
            </a:r>
            <a:endParaRPr/>
          </a:p>
        </p:txBody>
      </p:sp>
      <p:sp>
        <p:nvSpPr>
          <p:cNvPr id="634" name="Google Shape;634;p11"/>
          <p:cNvSpPr/>
          <p:nvPr/>
        </p:nvSpPr>
        <p:spPr>
          <a:xfrm>
            <a:off x="8156448" y="3374136"/>
            <a:ext cx="868680" cy="292608"/>
          </a:xfrm>
          <a:prstGeom prst="roundRect">
            <a:avLst>
              <a:gd fmla="val 50000" name="adj"/>
            </a:avLst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1"/>
          <p:cNvSpPr txBox="1"/>
          <p:nvPr/>
        </p:nvSpPr>
        <p:spPr>
          <a:xfrm>
            <a:off x="8156448" y="3374136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Confirm</a:t>
            </a:r>
            <a:endParaRPr/>
          </a:p>
        </p:txBody>
      </p:sp>
      <p:sp>
        <p:nvSpPr>
          <p:cNvPr id="636" name="Google Shape;636;p11"/>
          <p:cNvSpPr/>
          <p:nvPr/>
        </p:nvSpPr>
        <p:spPr>
          <a:xfrm>
            <a:off x="9116568" y="3374136"/>
            <a:ext cx="868680" cy="292608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2F85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1"/>
          <p:cNvSpPr txBox="1"/>
          <p:nvPr/>
        </p:nvSpPr>
        <p:spPr>
          <a:xfrm>
            <a:off x="9116568" y="3374136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Reschedule</a:t>
            </a:r>
            <a:endParaRPr/>
          </a:p>
        </p:txBody>
      </p:sp>
      <p:sp>
        <p:nvSpPr>
          <p:cNvPr id="638" name="Google Shape;638;p11"/>
          <p:cNvSpPr txBox="1"/>
          <p:nvPr/>
        </p:nvSpPr>
        <p:spPr>
          <a:xfrm>
            <a:off x="7818120" y="5852159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HotDoc reminder — illustrative</a:t>
            </a:r>
            <a:endParaRPr/>
          </a:p>
        </p:txBody>
      </p:sp>
      <p:cxnSp>
        <p:nvCxnSpPr>
          <p:cNvPr id="639" name="Google Shape;639;p11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640" name="Google Shape;64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11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642" name="Google Shape;642;p11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Applications for Clients</a:t>
            </a:r>
            <a:endParaRPr/>
          </a:p>
        </p:txBody>
      </p:sp>
      <p:sp>
        <p:nvSpPr>
          <p:cNvPr id="643" name="Google Shape;643;p11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 / 26</a:t>
            </a:r>
            <a:endParaRPr/>
          </a:p>
        </p:txBody>
      </p:sp>
      <p:pic>
        <p:nvPicPr>
          <p:cNvPr id="644" name="Google Shape;64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6937" y="1141262"/>
            <a:ext cx="3931200" cy="4941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2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ICT SOLUTIONS · STAFF PORTAL</a:t>
            </a:r>
            <a:endParaRPr/>
          </a:p>
        </p:txBody>
      </p:sp>
      <p:sp>
        <p:nvSpPr>
          <p:cNvPr id="651" name="Google Shape;651;p12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 for Staff Portal</a:t>
            </a:r>
            <a:endParaRPr/>
          </a:p>
        </p:txBody>
      </p:sp>
      <p:sp>
        <p:nvSpPr>
          <p:cNvPr id="652" name="Google Shape;652;p12"/>
          <p:cNvSpPr txBox="1"/>
          <p:nvPr/>
        </p:nvSpPr>
        <p:spPr>
          <a:xfrm>
            <a:off x="502920" y="13258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interface, features &amp; how they benefit the business</a:t>
            </a:r>
            <a:endParaRPr/>
          </a:p>
        </p:txBody>
      </p:sp>
      <p:sp>
        <p:nvSpPr>
          <p:cNvPr id="653" name="Google Shape;653;p12"/>
          <p:cNvSpPr/>
          <p:nvPr/>
        </p:nvSpPr>
        <p:spPr>
          <a:xfrm>
            <a:off x="502920" y="169164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2"/>
          <p:cNvSpPr/>
          <p:nvPr/>
        </p:nvSpPr>
        <p:spPr>
          <a:xfrm>
            <a:off x="502920" y="1691640"/>
            <a:ext cx="11183111" cy="352044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270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2"/>
          <p:cNvSpPr/>
          <p:nvPr/>
        </p:nvSpPr>
        <p:spPr>
          <a:xfrm>
            <a:off x="502920" y="1691640"/>
            <a:ext cx="11183111" cy="347472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AF3E4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2"/>
          <p:cNvSpPr/>
          <p:nvPr/>
        </p:nvSpPr>
        <p:spPr>
          <a:xfrm>
            <a:off x="667512" y="1824228"/>
            <a:ext cx="82296" cy="82296"/>
          </a:xfrm>
          <a:prstGeom prst="ellipse">
            <a:avLst/>
          </a:prstGeom>
          <a:solidFill>
            <a:srgbClr val="D975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2"/>
          <p:cNvSpPr/>
          <p:nvPr/>
        </p:nvSpPr>
        <p:spPr>
          <a:xfrm>
            <a:off x="822960" y="1824228"/>
            <a:ext cx="82296" cy="82296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2"/>
          <p:cNvSpPr/>
          <p:nvPr/>
        </p:nvSpPr>
        <p:spPr>
          <a:xfrm>
            <a:off x="978408" y="1824228"/>
            <a:ext cx="82296" cy="82296"/>
          </a:xfrm>
          <a:prstGeom prst="ellipse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2"/>
          <p:cNvSpPr txBox="1"/>
          <p:nvPr/>
        </p:nvSpPr>
        <p:spPr>
          <a:xfrm>
            <a:off x="1188720" y="173736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Practice Dashboard — Dr Simmons</a:t>
            </a:r>
            <a:endParaRPr/>
          </a:p>
        </p:txBody>
      </p:sp>
      <p:sp>
        <p:nvSpPr>
          <p:cNvPr id="660" name="Google Shape;660;p12"/>
          <p:cNvSpPr/>
          <p:nvPr/>
        </p:nvSpPr>
        <p:spPr>
          <a:xfrm>
            <a:off x="9902952" y="1746504"/>
            <a:ext cx="1645920" cy="237744"/>
          </a:xfrm>
          <a:prstGeom prst="roundRect">
            <a:avLst>
              <a:gd fmla="val 50000" name="adj"/>
            </a:avLst>
          </a:prstGeom>
          <a:solidFill>
            <a:srgbClr val="FDF1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2"/>
          <p:cNvSpPr txBox="1"/>
          <p:nvPr/>
        </p:nvSpPr>
        <p:spPr>
          <a:xfrm>
            <a:off x="9902952" y="1746504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MATCHES LIVE PROTOTYPE</a:t>
            </a:r>
            <a:endParaRPr/>
          </a:p>
        </p:txBody>
      </p:sp>
      <p:sp>
        <p:nvSpPr>
          <p:cNvPr id="662" name="Google Shape;662;p12"/>
          <p:cNvSpPr/>
          <p:nvPr/>
        </p:nvSpPr>
        <p:spPr>
          <a:xfrm>
            <a:off x="685800" y="2148840"/>
            <a:ext cx="2594609" cy="777240"/>
          </a:xfrm>
          <a:prstGeom prst="roundRect">
            <a:avLst>
              <a:gd fmla="val 12000" name="adj"/>
            </a:avLst>
          </a:prstGeom>
          <a:solidFill>
            <a:srgbClr val="FCF9F1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1,177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6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Appointments (Q1 2026)</a:t>
            </a:r>
            <a:endParaRPr/>
          </a:p>
        </p:txBody>
      </p:sp>
      <p:sp>
        <p:nvSpPr>
          <p:cNvPr id="663" name="Google Shape;663;p12"/>
          <p:cNvSpPr/>
          <p:nvPr/>
        </p:nvSpPr>
        <p:spPr>
          <a:xfrm>
            <a:off x="3426713" y="2148840"/>
            <a:ext cx="2594609" cy="777240"/>
          </a:xfrm>
          <a:prstGeom prst="roundRect">
            <a:avLst>
              <a:gd fmla="val 12000" name="adj"/>
            </a:avLst>
          </a:prstGeom>
          <a:solidFill>
            <a:srgbClr val="FCF9F1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83%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6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Attendance Rate</a:t>
            </a:r>
            <a:endParaRPr/>
          </a:p>
        </p:txBody>
      </p:sp>
      <p:sp>
        <p:nvSpPr>
          <p:cNvPr id="664" name="Google Shape;664;p12"/>
          <p:cNvSpPr/>
          <p:nvPr/>
        </p:nvSpPr>
        <p:spPr>
          <a:xfrm>
            <a:off x="6167627" y="2148840"/>
            <a:ext cx="2594609" cy="777240"/>
          </a:xfrm>
          <a:prstGeom prst="roundRect">
            <a:avLst>
              <a:gd fmla="val 12000" name="adj"/>
            </a:avLst>
          </a:prstGeom>
          <a:solidFill>
            <a:srgbClr val="FCF9F1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11.7%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6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No-show Rate</a:t>
            </a:r>
            <a:endParaRPr/>
          </a:p>
        </p:txBody>
      </p:sp>
      <p:sp>
        <p:nvSpPr>
          <p:cNvPr id="665" name="Google Shape;665;p12"/>
          <p:cNvSpPr/>
          <p:nvPr/>
        </p:nvSpPr>
        <p:spPr>
          <a:xfrm>
            <a:off x="8908542" y="2148840"/>
            <a:ext cx="2594609" cy="777240"/>
          </a:xfrm>
          <a:prstGeom prst="roundRect">
            <a:avLst>
              <a:gd fmla="val 12000" name="adj"/>
            </a:avLst>
          </a:prstGeom>
          <a:solidFill>
            <a:srgbClr val="FCF9F1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B549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$3,782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6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Revenue at Risk — 75 rejected claims</a:t>
            </a:r>
            <a:endParaRPr/>
          </a:p>
        </p:txBody>
      </p:sp>
      <p:sp>
        <p:nvSpPr>
          <p:cNvPr id="666" name="Google Shape;666;p12"/>
          <p:cNvSpPr txBox="1"/>
          <p:nvPr/>
        </p:nvSpPr>
        <p:spPr>
          <a:xfrm>
            <a:off x="685800" y="29900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No-show Rate by Provider</a:t>
            </a:r>
            <a:endParaRPr/>
          </a:p>
        </p:txBody>
      </p:sp>
      <p:graphicFrame>
        <p:nvGraphicFramePr>
          <p:cNvPr id="667" name="Google Shape;667;p12"/>
          <p:cNvGraphicFramePr/>
          <p:nvPr/>
        </p:nvGraphicFramePr>
        <p:xfrm>
          <a:off x="685800" y="3227832"/>
          <a:ext cx="5271515" cy="13258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668" name="Google Shape;668;p12"/>
          <p:cNvSpPr txBox="1"/>
          <p:nvPr/>
        </p:nvSpPr>
        <p:spPr>
          <a:xfrm>
            <a:off x="6231635" y="299008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Claims Breakdown (977 lodged)</a:t>
            </a:r>
            <a:endParaRPr/>
          </a:p>
        </p:txBody>
      </p:sp>
      <p:graphicFrame>
        <p:nvGraphicFramePr>
          <p:cNvPr id="669" name="Google Shape;669;p12"/>
          <p:cNvGraphicFramePr/>
          <p:nvPr/>
        </p:nvGraphicFramePr>
        <p:xfrm>
          <a:off x="6231635" y="3227832"/>
          <a:ext cx="5271515" cy="13258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670" name="Google Shape;670;p12"/>
          <p:cNvSpPr/>
          <p:nvPr/>
        </p:nvSpPr>
        <p:spPr>
          <a:xfrm>
            <a:off x="685800" y="4901184"/>
            <a:ext cx="10817351" cy="237744"/>
          </a:xfrm>
          <a:prstGeom prst="roundRect">
            <a:avLst>
              <a:gd fmla="val 40000" name="adj"/>
            </a:avLst>
          </a:prstGeom>
          <a:solidFill>
            <a:srgbClr val="E4F1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2"/>
          <p:cNvSpPr/>
          <p:nvPr/>
        </p:nvSpPr>
        <p:spPr>
          <a:xfrm>
            <a:off x="795528" y="4983480"/>
            <a:ext cx="73152" cy="73152"/>
          </a:xfrm>
          <a:prstGeom prst="ellipse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2"/>
          <p:cNvSpPr txBox="1"/>
          <p:nvPr/>
        </p:nvSpPr>
        <p:spPr>
          <a:xfrm>
            <a:off x="932688" y="4901184"/>
            <a:ext cx="10570463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Reminders cut no-shows from 19.7% to 7.1% — 2.8× fewer, when one is sent</a:t>
            </a:r>
            <a:endParaRPr/>
          </a:p>
        </p:txBody>
      </p:sp>
      <p:sp>
        <p:nvSpPr>
          <p:cNvPr id="673" name="Google Shape;673;p12"/>
          <p:cNvSpPr txBox="1"/>
          <p:nvPr/>
        </p:nvSpPr>
        <p:spPr>
          <a:xfrm>
            <a:off x="502920" y="5349240"/>
            <a:ext cx="540867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FEATURES</a:t>
            </a:r>
            <a:endParaRPr/>
          </a:p>
        </p:txBody>
      </p:sp>
      <p:sp>
        <p:nvSpPr>
          <p:cNvPr id="674" name="Google Shape;674;p12"/>
          <p:cNvSpPr txBox="1"/>
          <p:nvPr/>
        </p:nvSpPr>
        <p:spPr>
          <a:xfrm>
            <a:off x="502920" y="5586984"/>
            <a:ext cx="540867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8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KPI tiles — appointments, no-show rate, recalls due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8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Attendance trend and booking-channel reporting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8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Reconciliation status between Xero and Best Practice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8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Single sign-on scoped to each staff member's role</a:t>
            </a:r>
            <a:endParaRPr/>
          </a:p>
        </p:txBody>
      </p:sp>
      <p:sp>
        <p:nvSpPr>
          <p:cNvPr id="675" name="Google Shape;675;p12"/>
          <p:cNvSpPr txBox="1"/>
          <p:nvPr/>
        </p:nvSpPr>
        <p:spPr>
          <a:xfrm>
            <a:off x="6277355" y="5349240"/>
            <a:ext cx="540867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BENEFIT</a:t>
            </a:r>
            <a:endParaRPr/>
          </a:p>
        </p:txBody>
      </p:sp>
      <p:sp>
        <p:nvSpPr>
          <p:cNvPr id="676" name="Google Shape;676;p12"/>
          <p:cNvSpPr txBox="1"/>
          <p:nvPr/>
        </p:nvSpPr>
        <p:spPr>
          <a:xfrm>
            <a:off x="6277355" y="5586984"/>
            <a:ext cx="540867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8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Gives Dr Simmons the forward-looking view he told us he lacks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8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Replaces ad hoc, reactive advice with a standing view of the practice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8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Surfaces reconciliation issues before month-end, not after</a:t>
            </a:r>
            <a:endParaRPr/>
          </a:p>
        </p:txBody>
      </p:sp>
      <p:cxnSp>
        <p:nvCxnSpPr>
          <p:cNvPr id="677" name="Google Shape;677;p12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678" name="Google Shape;67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12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680" name="Google Shape;680;p12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Staff Portal</a:t>
            </a:r>
            <a:endParaRPr/>
          </a:p>
        </p:txBody>
      </p:sp>
      <p:sp>
        <p:nvSpPr>
          <p:cNvPr id="681" name="Google Shape;681;p12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 / 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3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ICT SOLUTIONS · UI/UX</a:t>
            </a:r>
            <a:endParaRPr/>
          </a:p>
        </p:txBody>
      </p:sp>
      <p:sp>
        <p:nvSpPr>
          <p:cNvPr id="688" name="Google Shape;688;p13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the Interfaces Look Like</a:t>
            </a:r>
            <a:endParaRPr/>
          </a:p>
        </p:txBody>
      </p:sp>
      <p:sp>
        <p:nvSpPr>
          <p:cNvPr id="689" name="Google Shape;689;p13"/>
          <p:cNvSpPr txBox="1"/>
          <p:nvPr/>
        </p:nvSpPr>
        <p:spPr>
          <a:xfrm>
            <a:off x="502920" y="13258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Screens labelled here are built and demonstrable in the live prototype</a:t>
            </a:r>
            <a:endParaRPr/>
          </a:p>
        </p:txBody>
      </p:sp>
      <p:sp>
        <p:nvSpPr>
          <p:cNvPr id="690" name="Google Shape;690;p13"/>
          <p:cNvSpPr/>
          <p:nvPr/>
        </p:nvSpPr>
        <p:spPr>
          <a:xfrm>
            <a:off x="502920" y="169164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3"/>
          <p:cNvSpPr txBox="1"/>
          <p:nvPr/>
        </p:nvSpPr>
        <p:spPr>
          <a:xfrm>
            <a:off x="502920" y="1783080"/>
            <a:ext cx="54086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MOBILE — PATIENT APP</a:t>
            </a:r>
            <a:endParaRPr/>
          </a:p>
        </p:txBody>
      </p:sp>
      <p:sp>
        <p:nvSpPr>
          <p:cNvPr id="692" name="Google Shape;692;p13"/>
          <p:cNvSpPr/>
          <p:nvPr/>
        </p:nvSpPr>
        <p:spPr>
          <a:xfrm>
            <a:off x="566928" y="2304288"/>
            <a:ext cx="457200" cy="457200"/>
          </a:xfrm>
          <a:prstGeom prst="ellipse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93" name="Google Shape;693;p13"/>
          <p:cNvSpPr txBox="1"/>
          <p:nvPr/>
        </p:nvSpPr>
        <p:spPr>
          <a:xfrm>
            <a:off x="1143000" y="2121408"/>
            <a:ext cx="4768595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Home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Upcoming appointment, quick actions, reminder card</a:t>
            </a:r>
            <a:endParaRPr/>
          </a:p>
        </p:txBody>
      </p:sp>
      <p:cxnSp>
        <p:nvCxnSpPr>
          <p:cNvPr id="694" name="Google Shape;694;p13"/>
          <p:cNvCxnSpPr/>
          <p:nvPr/>
        </p:nvCxnSpPr>
        <p:spPr>
          <a:xfrm>
            <a:off x="594360" y="2962656"/>
            <a:ext cx="5225795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5" name="Google Shape;695;p13"/>
          <p:cNvSpPr/>
          <p:nvPr/>
        </p:nvSpPr>
        <p:spPr>
          <a:xfrm>
            <a:off x="566928" y="3236975"/>
            <a:ext cx="457200" cy="457200"/>
          </a:xfrm>
          <a:prstGeom prst="ellipse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96" name="Google Shape;696;p13"/>
          <p:cNvSpPr txBox="1"/>
          <p:nvPr/>
        </p:nvSpPr>
        <p:spPr>
          <a:xfrm>
            <a:off x="1143000" y="3054096"/>
            <a:ext cx="4768595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Book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4-step booking wizard — reason, provider, time, confirm</a:t>
            </a:r>
            <a:endParaRPr/>
          </a:p>
        </p:txBody>
      </p:sp>
      <p:cxnSp>
        <p:nvCxnSpPr>
          <p:cNvPr id="697" name="Google Shape;697;p13"/>
          <p:cNvCxnSpPr/>
          <p:nvPr/>
        </p:nvCxnSpPr>
        <p:spPr>
          <a:xfrm>
            <a:off x="594360" y="3895344"/>
            <a:ext cx="5225795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8" name="Google Shape;698;p13"/>
          <p:cNvSpPr/>
          <p:nvPr/>
        </p:nvSpPr>
        <p:spPr>
          <a:xfrm>
            <a:off x="566928" y="4169663"/>
            <a:ext cx="457200" cy="457200"/>
          </a:xfrm>
          <a:prstGeom prst="ellipse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699" name="Google Shape;699;p13"/>
          <p:cNvSpPr txBox="1"/>
          <p:nvPr/>
        </p:nvSpPr>
        <p:spPr>
          <a:xfrm>
            <a:off x="1143000" y="3986783"/>
            <a:ext cx="4768595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Assistant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chat — books, reschedules, answers FAQs, escalates</a:t>
            </a:r>
            <a:endParaRPr/>
          </a:p>
        </p:txBody>
      </p:sp>
      <p:cxnSp>
        <p:nvCxnSpPr>
          <p:cNvPr id="700" name="Google Shape;700;p13"/>
          <p:cNvCxnSpPr/>
          <p:nvPr/>
        </p:nvCxnSpPr>
        <p:spPr>
          <a:xfrm>
            <a:off x="594360" y="4828031"/>
            <a:ext cx="5225795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1" name="Google Shape;701;p13"/>
          <p:cNvSpPr/>
          <p:nvPr/>
        </p:nvSpPr>
        <p:spPr>
          <a:xfrm>
            <a:off x="566928" y="5102351"/>
            <a:ext cx="457200" cy="457200"/>
          </a:xfrm>
          <a:prstGeom prst="ellipse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702" name="Google Shape;702;p13"/>
          <p:cNvSpPr txBox="1"/>
          <p:nvPr/>
        </p:nvSpPr>
        <p:spPr>
          <a:xfrm>
            <a:off x="1143000" y="4919471"/>
            <a:ext cx="4768595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Profile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Details, notification preferences, appointment history</a:t>
            </a:r>
            <a:endParaRPr/>
          </a:p>
        </p:txBody>
      </p:sp>
      <p:sp>
        <p:nvSpPr>
          <p:cNvPr id="703" name="Google Shape;703;p13"/>
          <p:cNvSpPr txBox="1"/>
          <p:nvPr/>
        </p:nvSpPr>
        <p:spPr>
          <a:xfrm>
            <a:off x="6277355" y="1783080"/>
            <a:ext cx="54086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BROWSER — STAFF &amp; ADMIN PORTAL</a:t>
            </a:r>
            <a:endParaRPr/>
          </a:p>
        </p:txBody>
      </p:sp>
      <p:sp>
        <p:nvSpPr>
          <p:cNvPr id="704" name="Google Shape;704;p13"/>
          <p:cNvSpPr/>
          <p:nvPr/>
        </p:nvSpPr>
        <p:spPr>
          <a:xfrm>
            <a:off x="6332219" y="2194559"/>
            <a:ext cx="365760" cy="365760"/>
          </a:xfrm>
          <a:prstGeom prst="ellipse">
            <a:avLst/>
          </a:prstGeom>
          <a:solidFill>
            <a:srgbClr val="3AAFA9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05" name="Google Shape;705;p13"/>
          <p:cNvSpPr txBox="1"/>
          <p:nvPr/>
        </p:nvSpPr>
        <p:spPr>
          <a:xfrm>
            <a:off x="6807707" y="2139696"/>
            <a:ext cx="48600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Patient Records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Role-scoped view, specialist segregation enforced</a:t>
            </a:r>
            <a:endParaRPr/>
          </a:p>
        </p:txBody>
      </p:sp>
      <p:cxnSp>
        <p:nvCxnSpPr>
          <p:cNvPr id="706" name="Google Shape;706;p13"/>
          <p:cNvCxnSpPr/>
          <p:nvPr/>
        </p:nvCxnSpPr>
        <p:spPr>
          <a:xfrm>
            <a:off x="6323075" y="2633472"/>
            <a:ext cx="5317236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7" name="Google Shape;707;p13"/>
          <p:cNvSpPr/>
          <p:nvPr/>
        </p:nvSpPr>
        <p:spPr>
          <a:xfrm>
            <a:off x="6332219" y="2743199"/>
            <a:ext cx="365760" cy="365760"/>
          </a:xfrm>
          <a:prstGeom prst="ellipse">
            <a:avLst/>
          </a:prstGeom>
          <a:solidFill>
            <a:srgbClr val="3AAFA9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708" name="Google Shape;708;p13"/>
          <p:cNvSpPr txBox="1"/>
          <p:nvPr/>
        </p:nvSpPr>
        <p:spPr>
          <a:xfrm>
            <a:off x="6807707" y="2688336"/>
            <a:ext cx="48600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Results Inbox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Pathology, radiology &amp; referrals, flagged for review</a:t>
            </a:r>
            <a:endParaRPr/>
          </a:p>
        </p:txBody>
      </p:sp>
      <p:cxnSp>
        <p:nvCxnSpPr>
          <p:cNvPr id="709" name="Google Shape;709;p13"/>
          <p:cNvCxnSpPr/>
          <p:nvPr/>
        </p:nvCxnSpPr>
        <p:spPr>
          <a:xfrm>
            <a:off x="6323075" y="3182112"/>
            <a:ext cx="5317236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0" name="Google Shape;710;p13"/>
          <p:cNvSpPr/>
          <p:nvPr/>
        </p:nvSpPr>
        <p:spPr>
          <a:xfrm>
            <a:off x="6332219" y="3291839"/>
            <a:ext cx="365760" cy="365760"/>
          </a:xfrm>
          <a:prstGeom prst="ellipse">
            <a:avLst/>
          </a:prstGeom>
          <a:solidFill>
            <a:srgbClr val="3AAFA9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11" name="Google Shape;711;p13"/>
          <p:cNvSpPr txBox="1"/>
          <p:nvPr/>
        </p:nvSpPr>
        <p:spPr>
          <a:xfrm>
            <a:off x="6807707" y="3236976"/>
            <a:ext cx="48600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Imaging &amp; Files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Tiered object storage, retention-period aware</a:t>
            </a:r>
            <a:endParaRPr/>
          </a:p>
        </p:txBody>
      </p:sp>
      <p:cxnSp>
        <p:nvCxnSpPr>
          <p:cNvPr id="712" name="Google Shape;712;p13"/>
          <p:cNvCxnSpPr/>
          <p:nvPr/>
        </p:nvCxnSpPr>
        <p:spPr>
          <a:xfrm>
            <a:off x="6323075" y="3730752"/>
            <a:ext cx="5317236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3" name="Google Shape;713;p13"/>
          <p:cNvSpPr/>
          <p:nvPr/>
        </p:nvSpPr>
        <p:spPr>
          <a:xfrm>
            <a:off x="6332219" y="3840480"/>
            <a:ext cx="365760" cy="365760"/>
          </a:xfrm>
          <a:prstGeom prst="ellipse">
            <a:avLst/>
          </a:prstGeom>
          <a:solidFill>
            <a:srgbClr val="3AAFA9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714" name="Google Shape;714;p13"/>
          <p:cNvSpPr txBox="1"/>
          <p:nvPr/>
        </p:nvSpPr>
        <p:spPr>
          <a:xfrm>
            <a:off x="6807707" y="3785615"/>
            <a:ext cx="48600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Claims &amp; Billing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Medicare reconciliation, rejected-claim flags</a:t>
            </a:r>
            <a:endParaRPr/>
          </a:p>
        </p:txBody>
      </p:sp>
      <p:cxnSp>
        <p:nvCxnSpPr>
          <p:cNvPr id="715" name="Google Shape;715;p13"/>
          <p:cNvCxnSpPr/>
          <p:nvPr/>
        </p:nvCxnSpPr>
        <p:spPr>
          <a:xfrm>
            <a:off x="6323075" y="4279392"/>
            <a:ext cx="5317236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6" name="Google Shape;716;p13"/>
          <p:cNvSpPr/>
          <p:nvPr/>
        </p:nvSpPr>
        <p:spPr>
          <a:xfrm>
            <a:off x="6332219" y="4389120"/>
            <a:ext cx="365760" cy="365760"/>
          </a:xfrm>
          <a:prstGeom prst="ellipse">
            <a:avLst/>
          </a:prstGeom>
          <a:solidFill>
            <a:srgbClr val="3AAFA9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717" name="Google Shape;717;p13"/>
          <p:cNvSpPr txBox="1"/>
          <p:nvPr/>
        </p:nvSpPr>
        <p:spPr>
          <a:xfrm>
            <a:off x="6807707" y="4334255"/>
            <a:ext cx="48600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Reports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KPIs and the full analytics dashboard (admin roles)</a:t>
            </a:r>
            <a:endParaRPr/>
          </a:p>
        </p:txBody>
      </p:sp>
      <p:cxnSp>
        <p:nvCxnSpPr>
          <p:cNvPr id="718" name="Google Shape;718;p13"/>
          <p:cNvCxnSpPr/>
          <p:nvPr/>
        </p:nvCxnSpPr>
        <p:spPr>
          <a:xfrm>
            <a:off x="6323075" y="4828031"/>
            <a:ext cx="5317236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9" name="Google Shape;719;p13"/>
          <p:cNvSpPr/>
          <p:nvPr/>
        </p:nvSpPr>
        <p:spPr>
          <a:xfrm>
            <a:off x="6332219" y="4937759"/>
            <a:ext cx="365760" cy="365760"/>
          </a:xfrm>
          <a:prstGeom prst="ellipse">
            <a:avLst/>
          </a:prstGeom>
          <a:solidFill>
            <a:srgbClr val="3AAFA9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720" name="Google Shape;720;p13"/>
          <p:cNvSpPr txBox="1"/>
          <p:nvPr/>
        </p:nvSpPr>
        <p:spPr>
          <a:xfrm>
            <a:off x="6807707" y="4882895"/>
            <a:ext cx="48600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 &amp; System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Controls, backup status, access log</a:t>
            </a:r>
            <a:endParaRPr/>
          </a:p>
        </p:txBody>
      </p:sp>
      <p:cxnSp>
        <p:nvCxnSpPr>
          <p:cNvPr id="721" name="Google Shape;721;p13"/>
          <p:cNvCxnSpPr/>
          <p:nvPr/>
        </p:nvCxnSpPr>
        <p:spPr>
          <a:xfrm>
            <a:off x="6323075" y="5376671"/>
            <a:ext cx="5317236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2" name="Google Shape;722;p13"/>
          <p:cNvSpPr/>
          <p:nvPr/>
        </p:nvSpPr>
        <p:spPr>
          <a:xfrm>
            <a:off x="6332219" y="5486399"/>
            <a:ext cx="365760" cy="365760"/>
          </a:xfrm>
          <a:prstGeom prst="ellipse">
            <a:avLst/>
          </a:prstGeom>
          <a:solidFill>
            <a:srgbClr val="3AAFA9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723" name="Google Shape;723;p13"/>
          <p:cNvSpPr txBox="1"/>
          <p:nvPr/>
        </p:nvSpPr>
        <p:spPr>
          <a:xfrm>
            <a:off x="6807707" y="5431535"/>
            <a:ext cx="48600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Users &amp; Access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Roles and permissions administration</a:t>
            </a:r>
            <a:endParaRPr/>
          </a:p>
        </p:txBody>
      </p:sp>
      <p:sp>
        <p:nvSpPr>
          <p:cNvPr id="724" name="Google Shape;724;p13"/>
          <p:cNvSpPr/>
          <p:nvPr/>
        </p:nvSpPr>
        <p:spPr>
          <a:xfrm>
            <a:off x="502920" y="5989320"/>
            <a:ext cx="11183111" cy="384048"/>
          </a:xfrm>
          <a:prstGeom prst="roundRect">
            <a:avLst>
              <a:gd fmla="val 15000" name="adj"/>
            </a:avLst>
          </a:prstGeom>
          <a:solidFill>
            <a:srgbClr val="E4F1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3"/>
          <p:cNvSpPr txBox="1"/>
          <p:nvPr/>
        </p:nvSpPr>
        <p:spPr>
          <a:xfrm>
            <a:off x="502920" y="5989320"/>
            <a:ext cx="11183111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Both apps are built and clickable in the live prototype — ask to see it</a:t>
            </a:r>
            <a:endParaRPr/>
          </a:p>
        </p:txBody>
      </p:sp>
      <p:cxnSp>
        <p:nvCxnSpPr>
          <p:cNvPr id="726" name="Google Shape;726;p13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727" name="Google Shape;7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13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729" name="Google Shape;729;p13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UI / UX</a:t>
            </a:r>
            <a:endParaRPr/>
          </a:p>
        </p:txBody>
      </p:sp>
      <p:sp>
        <p:nvSpPr>
          <p:cNvPr id="730" name="Google Shape;730;p13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 / 26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1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4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ICT SOLUTIONS · DATABASE</a:t>
            </a:r>
            <a:endParaRPr/>
          </a:p>
        </p:txBody>
      </p:sp>
      <p:sp>
        <p:nvSpPr>
          <p:cNvPr id="737" name="Google Shape;737;p14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SMP Database</a:t>
            </a:r>
            <a:endParaRPr/>
          </a:p>
        </p:txBody>
      </p:sp>
      <p:sp>
        <p:nvSpPr>
          <p:cNvPr id="738" name="Google Shape;738;p14"/>
          <p:cNvSpPr txBox="1"/>
          <p:nvPr/>
        </p:nvSpPr>
        <p:spPr>
          <a:xfrm>
            <a:off x="502920" y="13258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Features and strategies behind every system</a:t>
            </a:r>
            <a:endParaRPr/>
          </a:p>
        </p:txBody>
      </p:sp>
      <p:sp>
        <p:nvSpPr>
          <p:cNvPr id="739" name="Google Shape;739;p14"/>
          <p:cNvSpPr/>
          <p:nvPr/>
        </p:nvSpPr>
        <p:spPr>
          <a:xfrm>
            <a:off x="502920" y="169164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4"/>
          <p:cNvSpPr/>
          <p:nvPr/>
        </p:nvSpPr>
        <p:spPr>
          <a:xfrm>
            <a:off x="502920" y="1737360"/>
            <a:ext cx="6949440" cy="4483262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R_Diagram.png" id="741" name="Google Shape;7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874519"/>
            <a:ext cx="6675120" cy="4208942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14"/>
          <p:cNvSpPr txBox="1"/>
          <p:nvPr/>
        </p:nvSpPr>
        <p:spPr>
          <a:xfrm>
            <a:off x="502920" y="6293774"/>
            <a:ext cx="6949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Entity-relationship diagram designed by the project's Backend Developer (Faye)</a:t>
            </a:r>
            <a:endParaRPr/>
          </a:p>
        </p:txBody>
      </p:sp>
      <p:sp>
        <p:nvSpPr>
          <p:cNvPr id="743" name="Google Shape;743;p14"/>
          <p:cNvSpPr txBox="1"/>
          <p:nvPr/>
        </p:nvSpPr>
        <p:spPr>
          <a:xfrm>
            <a:off x="7726680" y="1737360"/>
            <a:ext cx="3959351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FEATURES &amp; STRATEGIES</a:t>
            </a:r>
            <a:endParaRPr/>
          </a:p>
        </p:txBody>
      </p:sp>
      <p:sp>
        <p:nvSpPr>
          <p:cNvPr id="744" name="Google Shape;744;p14"/>
          <p:cNvSpPr txBox="1"/>
          <p:nvPr/>
        </p:nvSpPr>
        <p:spPr>
          <a:xfrm>
            <a:off x="7726680" y="2048256"/>
            <a:ext cx="395935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98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Integration Middleware / API Layer — Slide 12 (Staff Portal)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98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Role-based access (is_partner / is_segregated) — Slide 15 (Access &amp; Identity)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98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Medicare billing assist (mbs_item) — Slide 18 (AI Engineering)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98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Encrypted imaging archive (DOCUMENT.storage_uri)</a:t>
            </a:r>
            <a:endParaRPr/>
          </a:p>
        </p:txBody>
      </p:sp>
      <p:sp>
        <p:nvSpPr>
          <p:cNvPr id="745" name="Google Shape;745;p14"/>
          <p:cNvSpPr/>
          <p:nvPr/>
        </p:nvSpPr>
        <p:spPr>
          <a:xfrm>
            <a:off x="7726680" y="3977639"/>
            <a:ext cx="3959351" cy="1965960"/>
          </a:xfrm>
          <a:prstGeom prst="roundRect">
            <a:avLst>
              <a:gd fmla="val 10000" name="adj"/>
            </a:avLst>
          </a:prstGeom>
          <a:solidFill>
            <a:srgbClr val="FBEAE1"/>
          </a:solidFill>
          <a:ln cap="flat" cmpd="sng" w="12700">
            <a:solidFill>
              <a:srgbClr val="D9754A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4"/>
          <p:cNvSpPr txBox="1"/>
          <p:nvPr/>
        </p:nvSpPr>
        <p:spPr>
          <a:xfrm>
            <a:off x="7927848" y="4123944"/>
            <a:ext cx="3557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cap="none" strike="noStrike">
                <a:solidFill>
                  <a:srgbClr val="B549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NEW: GP COST-SHARING &amp; REIMBURSEMENT</a:t>
            </a:r>
            <a:endParaRPr/>
          </a:p>
        </p:txBody>
      </p:sp>
      <p:sp>
        <p:nvSpPr>
          <p:cNvPr id="747" name="Google Shape;747;p14"/>
          <p:cNvSpPr txBox="1"/>
          <p:nvPr/>
        </p:nvSpPr>
        <p:spPr>
          <a:xfrm>
            <a:off x="7927848" y="4453127"/>
            <a:ext cx="3557015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 Simmons pays shared equipment and consumable costs upfront (SHARED_COST), then COST_ALLOCATION splits and tracks what each GP owes for reimbursement — directly addressing a requirement from the original practice brief.</a:t>
            </a:r>
            <a:endParaRPr/>
          </a:p>
        </p:txBody>
      </p:sp>
      <p:cxnSp>
        <p:nvCxnSpPr>
          <p:cNvPr id="748" name="Google Shape;748;p14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749" name="Google Shape;74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14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751" name="Google Shape;751;p14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SMP Database</a:t>
            </a:r>
            <a:endParaRPr/>
          </a:p>
        </p:txBody>
      </p:sp>
      <p:sp>
        <p:nvSpPr>
          <p:cNvPr id="752" name="Google Shape;752;p14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 / 26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5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5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ICT SOLUTIONS · CYBER SECURITY</a:t>
            </a:r>
            <a:endParaRPr/>
          </a:p>
        </p:txBody>
      </p:sp>
      <p:sp>
        <p:nvSpPr>
          <p:cNvPr id="759" name="Google Shape;759;p15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Access Control &amp; Identity</a:t>
            </a:r>
            <a:endParaRPr/>
          </a:p>
        </p:txBody>
      </p:sp>
      <p:sp>
        <p:nvSpPr>
          <p:cNvPr id="760" name="Google Shape;760;p15"/>
          <p:cNvSpPr txBox="1"/>
          <p:nvPr/>
        </p:nvSpPr>
        <p:spPr>
          <a:xfrm>
            <a:off x="502920" y="13258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Least-privilege, role-based — enforced by the database, not the screen</a:t>
            </a:r>
            <a:endParaRPr/>
          </a:p>
        </p:txBody>
      </p:sp>
      <p:sp>
        <p:nvSpPr>
          <p:cNvPr id="761" name="Google Shape;761;p15"/>
          <p:cNvSpPr/>
          <p:nvPr/>
        </p:nvSpPr>
        <p:spPr>
          <a:xfrm>
            <a:off x="502920" y="169164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5"/>
          <p:cNvSpPr txBox="1"/>
          <p:nvPr/>
        </p:nvSpPr>
        <p:spPr>
          <a:xfrm>
            <a:off x="502920" y="17830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ROLE</a:t>
            </a:r>
            <a:endParaRPr/>
          </a:p>
        </p:txBody>
      </p:sp>
      <p:sp>
        <p:nvSpPr>
          <p:cNvPr id="763" name="Google Shape;763;p15"/>
          <p:cNvSpPr txBox="1"/>
          <p:nvPr/>
        </p:nvSpPr>
        <p:spPr>
          <a:xfrm>
            <a:off x="2834639" y="1783080"/>
            <a:ext cx="177027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Patient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Records</a:t>
            </a:r>
            <a:endParaRPr/>
          </a:p>
        </p:txBody>
      </p:sp>
      <p:sp>
        <p:nvSpPr>
          <p:cNvPr id="764" name="Google Shape;764;p15"/>
          <p:cNvSpPr txBox="1"/>
          <p:nvPr/>
        </p:nvSpPr>
        <p:spPr>
          <a:xfrm>
            <a:off x="4604918" y="1783080"/>
            <a:ext cx="177027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Results &amp;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Imaging</a:t>
            </a:r>
            <a:endParaRPr/>
          </a:p>
        </p:txBody>
      </p:sp>
      <p:sp>
        <p:nvSpPr>
          <p:cNvPr id="765" name="Google Shape;765;p15"/>
          <p:cNvSpPr txBox="1"/>
          <p:nvPr/>
        </p:nvSpPr>
        <p:spPr>
          <a:xfrm>
            <a:off x="6375196" y="1783080"/>
            <a:ext cx="177027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Claims &amp;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Billing</a:t>
            </a:r>
            <a:endParaRPr/>
          </a:p>
        </p:txBody>
      </p:sp>
      <p:sp>
        <p:nvSpPr>
          <p:cNvPr id="766" name="Google Shape;766;p15"/>
          <p:cNvSpPr txBox="1"/>
          <p:nvPr/>
        </p:nvSpPr>
        <p:spPr>
          <a:xfrm>
            <a:off x="8145475" y="1783080"/>
            <a:ext cx="177027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Reports</a:t>
            </a:r>
            <a:endParaRPr/>
          </a:p>
        </p:txBody>
      </p:sp>
      <p:sp>
        <p:nvSpPr>
          <p:cNvPr id="767" name="Google Shape;767;p15"/>
          <p:cNvSpPr txBox="1"/>
          <p:nvPr/>
        </p:nvSpPr>
        <p:spPr>
          <a:xfrm>
            <a:off x="9915753" y="1783080"/>
            <a:ext cx="177027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 &amp;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Users</a:t>
            </a:r>
            <a:endParaRPr/>
          </a:p>
        </p:txBody>
      </p:sp>
      <p:cxnSp>
        <p:nvCxnSpPr>
          <p:cNvPr id="768" name="Google Shape;768;p15"/>
          <p:cNvCxnSpPr/>
          <p:nvPr/>
        </p:nvCxnSpPr>
        <p:spPr>
          <a:xfrm>
            <a:off x="502920" y="216712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9" name="Google Shape;769;p15"/>
          <p:cNvSpPr txBox="1"/>
          <p:nvPr/>
        </p:nvSpPr>
        <p:spPr>
          <a:xfrm>
            <a:off x="502920" y="2240280"/>
            <a:ext cx="22402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 Simmons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Owner — full admin</a:t>
            </a:r>
            <a:endParaRPr/>
          </a:p>
        </p:txBody>
      </p:sp>
      <p:sp>
        <p:nvSpPr>
          <p:cNvPr id="770" name="Google Shape;770;p15"/>
          <p:cNvSpPr txBox="1"/>
          <p:nvPr/>
        </p:nvSpPr>
        <p:spPr>
          <a:xfrm>
            <a:off x="2834639" y="2258568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</a:t>
            </a:r>
            <a:endParaRPr/>
          </a:p>
        </p:txBody>
      </p:sp>
      <p:sp>
        <p:nvSpPr>
          <p:cNvPr id="771" name="Google Shape;771;p15"/>
          <p:cNvSpPr txBox="1"/>
          <p:nvPr/>
        </p:nvSpPr>
        <p:spPr>
          <a:xfrm>
            <a:off x="4604918" y="2258568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</a:t>
            </a:r>
            <a:endParaRPr/>
          </a:p>
        </p:txBody>
      </p:sp>
      <p:sp>
        <p:nvSpPr>
          <p:cNvPr id="772" name="Google Shape;772;p15"/>
          <p:cNvSpPr txBox="1"/>
          <p:nvPr/>
        </p:nvSpPr>
        <p:spPr>
          <a:xfrm>
            <a:off x="6375196" y="2258568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</a:t>
            </a:r>
            <a:endParaRPr/>
          </a:p>
        </p:txBody>
      </p:sp>
      <p:sp>
        <p:nvSpPr>
          <p:cNvPr id="773" name="Google Shape;773;p15"/>
          <p:cNvSpPr txBox="1"/>
          <p:nvPr/>
        </p:nvSpPr>
        <p:spPr>
          <a:xfrm>
            <a:off x="8145475" y="2258568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</a:t>
            </a:r>
            <a:endParaRPr/>
          </a:p>
        </p:txBody>
      </p:sp>
      <p:sp>
        <p:nvSpPr>
          <p:cNvPr id="774" name="Google Shape;774;p15"/>
          <p:cNvSpPr txBox="1"/>
          <p:nvPr/>
        </p:nvSpPr>
        <p:spPr>
          <a:xfrm>
            <a:off x="9915753" y="2258568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</a:t>
            </a:r>
            <a:endParaRPr/>
          </a:p>
        </p:txBody>
      </p:sp>
      <p:cxnSp>
        <p:nvCxnSpPr>
          <p:cNvPr id="775" name="Google Shape;775;p15"/>
          <p:cNvCxnSpPr/>
          <p:nvPr/>
        </p:nvCxnSpPr>
        <p:spPr>
          <a:xfrm>
            <a:off x="502920" y="2688336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6" name="Google Shape;776;p15"/>
          <p:cNvSpPr txBox="1"/>
          <p:nvPr/>
        </p:nvSpPr>
        <p:spPr>
          <a:xfrm>
            <a:off x="502920" y="2715768"/>
            <a:ext cx="22402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Helen Simmons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Delegated admin</a:t>
            </a:r>
            <a:endParaRPr/>
          </a:p>
        </p:txBody>
      </p:sp>
      <p:sp>
        <p:nvSpPr>
          <p:cNvPr id="777" name="Google Shape;777;p15"/>
          <p:cNvSpPr txBox="1"/>
          <p:nvPr/>
        </p:nvSpPr>
        <p:spPr>
          <a:xfrm>
            <a:off x="2834639" y="2734056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</a:t>
            </a:r>
            <a:endParaRPr/>
          </a:p>
        </p:txBody>
      </p:sp>
      <p:sp>
        <p:nvSpPr>
          <p:cNvPr id="778" name="Google Shape;778;p15"/>
          <p:cNvSpPr txBox="1"/>
          <p:nvPr/>
        </p:nvSpPr>
        <p:spPr>
          <a:xfrm>
            <a:off x="4604918" y="2734056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</a:t>
            </a:r>
            <a:endParaRPr/>
          </a:p>
        </p:txBody>
      </p:sp>
      <p:sp>
        <p:nvSpPr>
          <p:cNvPr id="779" name="Google Shape;779;p15"/>
          <p:cNvSpPr txBox="1"/>
          <p:nvPr/>
        </p:nvSpPr>
        <p:spPr>
          <a:xfrm>
            <a:off x="6375196" y="2734056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◐</a:t>
            </a:r>
            <a:endParaRPr/>
          </a:p>
        </p:txBody>
      </p:sp>
      <p:sp>
        <p:nvSpPr>
          <p:cNvPr id="780" name="Google Shape;780;p15"/>
          <p:cNvSpPr txBox="1"/>
          <p:nvPr/>
        </p:nvSpPr>
        <p:spPr>
          <a:xfrm>
            <a:off x="8145475" y="2734056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</a:t>
            </a:r>
            <a:endParaRPr/>
          </a:p>
        </p:txBody>
      </p:sp>
      <p:sp>
        <p:nvSpPr>
          <p:cNvPr id="781" name="Google Shape;781;p15"/>
          <p:cNvSpPr txBox="1"/>
          <p:nvPr/>
        </p:nvSpPr>
        <p:spPr>
          <a:xfrm>
            <a:off x="9915753" y="2734056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◐</a:t>
            </a:r>
            <a:endParaRPr/>
          </a:p>
        </p:txBody>
      </p:sp>
      <p:cxnSp>
        <p:nvCxnSpPr>
          <p:cNvPr id="782" name="Google Shape;782;p15"/>
          <p:cNvCxnSpPr/>
          <p:nvPr/>
        </p:nvCxnSpPr>
        <p:spPr>
          <a:xfrm>
            <a:off x="502920" y="3163824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3" name="Google Shape;783;p15"/>
          <p:cNvSpPr txBox="1"/>
          <p:nvPr/>
        </p:nvSpPr>
        <p:spPr>
          <a:xfrm>
            <a:off x="502920" y="3191256"/>
            <a:ext cx="22402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 / Clinician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e.g. Dr James Chen</a:t>
            </a:r>
            <a:endParaRPr/>
          </a:p>
        </p:txBody>
      </p:sp>
      <p:sp>
        <p:nvSpPr>
          <p:cNvPr id="784" name="Google Shape;784;p15"/>
          <p:cNvSpPr txBox="1"/>
          <p:nvPr/>
        </p:nvSpPr>
        <p:spPr>
          <a:xfrm>
            <a:off x="2834639" y="3209544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</a:t>
            </a:r>
            <a:endParaRPr/>
          </a:p>
        </p:txBody>
      </p:sp>
      <p:sp>
        <p:nvSpPr>
          <p:cNvPr id="785" name="Google Shape;785;p15"/>
          <p:cNvSpPr txBox="1"/>
          <p:nvPr/>
        </p:nvSpPr>
        <p:spPr>
          <a:xfrm>
            <a:off x="4604918" y="3209544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</a:t>
            </a:r>
            <a:endParaRPr/>
          </a:p>
        </p:txBody>
      </p:sp>
      <p:sp>
        <p:nvSpPr>
          <p:cNvPr id="786" name="Google Shape;786;p15"/>
          <p:cNvSpPr txBox="1"/>
          <p:nvPr/>
        </p:nvSpPr>
        <p:spPr>
          <a:xfrm>
            <a:off x="6375196" y="3209544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◐</a:t>
            </a:r>
            <a:endParaRPr/>
          </a:p>
        </p:txBody>
      </p:sp>
      <p:sp>
        <p:nvSpPr>
          <p:cNvPr id="787" name="Google Shape;787;p15"/>
          <p:cNvSpPr txBox="1"/>
          <p:nvPr/>
        </p:nvSpPr>
        <p:spPr>
          <a:xfrm>
            <a:off x="8145475" y="3209544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◐</a:t>
            </a:r>
            <a:endParaRPr/>
          </a:p>
        </p:txBody>
      </p:sp>
      <p:sp>
        <p:nvSpPr>
          <p:cNvPr id="788" name="Google Shape;788;p15"/>
          <p:cNvSpPr txBox="1"/>
          <p:nvPr/>
        </p:nvSpPr>
        <p:spPr>
          <a:xfrm>
            <a:off x="9915753" y="3209544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/>
          </a:p>
        </p:txBody>
      </p:sp>
      <p:cxnSp>
        <p:nvCxnSpPr>
          <p:cNvPr id="789" name="Google Shape;789;p15"/>
          <p:cNvCxnSpPr/>
          <p:nvPr/>
        </p:nvCxnSpPr>
        <p:spPr>
          <a:xfrm>
            <a:off x="502920" y="3639312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0" name="Google Shape;790;p15"/>
          <p:cNvSpPr txBox="1"/>
          <p:nvPr/>
        </p:nvSpPr>
        <p:spPr>
          <a:xfrm>
            <a:off x="502920" y="3666744"/>
            <a:ext cx="22402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Nurse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e.g. Mary Kelly</a:t>
            </a:r>
            <a:endParaRPr/>
          </a:p>
        </p:txBody>
      </p:sp>
      <p:sp>
        <p:nvSpPr>
          <p:cNvPr id="791" name="Google Shape;791;p15"/>
          <p:cNvSpPr txBox="1"/>
          <p:nvPr/>
        </p:nvSpPr>
        <p:spPr>
          <a:xfrm>
            <a:off x="2834639" y="3685031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</a:t>
            </a:r>
            <a:endParaRPr/>
          </a:p>
        </p:txBody>
      </p:sp>
      <p:sp>
        <p:nvSpPr>
          <p:cNvPr id="792" name="Google Shape;792;p15"/>
          <p:cNvSpPr txBox="1"/>
          <p:nvPr/>
        </p:nvSpPr>
        <p:spPr>
          <a:xfrm>
            <a:off x="4604918" y="3685031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◐</a:t>
            </a:r>
            <a:endParaRPr/>
          </a:p>
        </p:txBody>
      </p:sp>
      <p:sp>
        <p:nvSpPr>
          <p:cNvPr id="793" name="Google Shape;793;p15"/>
          <p:cNvSpPr txBox="1"/>
          <p:nvPr/>
        </p:nvSpPr>
        <p:spPr>
          <a:xfrm>
            <a:off x="6375196" y="3685031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/>
          </a:p>
        </p:txBody>
      </p:sp>
      <p:sp>
        <p:nvSpPr>
          <p:cNvPr id="794" name="Google Shape;794;p15"/>
          <p:cNvSpPr txBox="1"/>
          <p:nvPr/>
        </p:nvSpPr>
        <p:spPr>
          <a:xfrm>
            <a:off x="8145475" y="3685031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/>
          </a:p>
        </p:txBody>
      </p:sp>
      <p:sp>
        <p:nvSpPr>
          <p:cNvPr id="795" name="Google Shape;795;p15"/>
          <p:cNvSpPr txBox="1"/>
          <p:nvPr/>
        </p:nvSpPr>
        <p:spPr>
          <a:xfrm>
            <a:off x="9915753" y="3685031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/>
          </a:p>
        </p:txBody>
      </p:sp>
      <p:cxnSp>
        <p:nvCxnSpPr>
          <p:cNvPr id="796" name="Google Shape;796;p15"/>
          <p:cNvCxnSpPr/>
          <p:nvPr/>
        </p:nvCxnSpPr>
        <p:spPr>
          <a:xfrm>
            <a:off x="502920" y="4114799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7" name="Google Shape;797;p15"/>
          <p:cNvSpPr txBox="1"/>
          <p:nvPr/>
        </p:nvSpPr>
        <p:spPr>
          <a:xfrm>
            <a:off x="502920" y="4142232"/>
            <a:ext cx="22402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Reception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e.g. Sophie Nguyen</a:t>
            </a:r>
            <a:endParaRPr/>
          </a:p>
        </p:txBody>
      </p:sp>
      <p:sp>
        <p:nvSpPr>
          <p:cNvPr id="798" name="Google Shape;798;p15"/>
          <p:cNvSpPr txBox="1"/>
          <p:nvPr/>
        </p:nvSpPr>
        <p:spPr>
          <a:xfrm>
            <a:off x="2834639" y="4160520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◐</a:t>
            </a:r>
            <a:endParaRPr/>
          </a:p>
        </p:txBody>
      </p:sp>
      <p:sp>
        <p:nvSpPr>
          <p:cNvPr id="799" name="Google Shape;799;p15"/>
          <p:cNvSpPr txBox="1"/>
          <p:nvPr/>
        </p:nvSpPr>
        <p:spPr>
          <a:xfrm>
            <a:off x="4604918" y="4160520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/>
          </a:p>
        </p:txBody>
      </p:sp>
      <p:sp>
        <p:nvSpPr>
          <p:cNvPr id="800" name="Google Shape;800;p15"/>
          <p:cNvSpPr txBox="1"/>
          <p:nvPr/>
        </p:nvSpPr>
        <p:spPr>
          <a:xfrm>
            <a:off x="6375196" y="4160520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/>
          </a:p>
        </p:txBody>
      </p:sp>
      <p:sp>
        <p:nvSpPr>
          <p:cNvPr id="801" name="Google Shape;801;p15"/>
          <p:cNvSpPr txBox="1"/>
          <p:nvPr/>
        </p:nvSpPr>
        <p:spPr>
          <a:xfrm>
            <a:off x="8145475" y="4160520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/>
          </a:p>
        </p:txBody>
      </p:sp>
      <p:sp>
        <p:nvSpPr>
          <p:cNvPr id="802" name="Google Shape;802;p15"/>
          <p:cNvSpPr txBox="1"/>
          <p:nvPr/>
        </p:nvSpPr>
        <p:spPr>
          <a:xfrm>
            <a:off x="9915753" y="4160520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/>
          </a:p>
        </p:txBody>
      </p:sp>
      <p:cxnSp>
        <p:nvCxnSpPr>
          <p:cNvPr id="803" name="Google Shape;803;p15"/>
          <p:cNvCxnSpPr/>
          <p:nvPr/>
        </p:nvCxnSpPr>
        <p:spPr>
          <a:xfrm>
            <a:off x="502920" y="45902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4" name="Google Shape;804;p15"/>
          <p:cNvSpPr txBox="1"/>
          <p:nvPr/>
        </p:nvSpPr>
        <p:spPr>
          <a:xfrm>
            <a:off x="502920" y="4617720"/>
            <a:ext cx="2240279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Visiting Specialist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Segregated — own patients only</a:t>
            </a:r>
            <a:endParaRPr/>
          </a:p>
        </p:txBody>
      </p:sp>
      <p:sp>
        <p:nvSpPr>
          <p:cNvPr id="805" name="Google Shape;805;p15"/>
          <p:cNvSpPr txBox="1"/>
          <p:nvPr/>
        </p:nvSpPr>
        <p:spPr>
          <a:xfrm>
            <a:off x="2834639" y="4636008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◑</a:t>
            </a:r>
            <a:endParaRPr/>
          </a:p>
        </p:txBody>
      </p:sp>
      <p:sp>
        <p:nvSpPr>
          <p:cNvPr id="806" name="Google Shape;806;p15"/>
          <p:cNvSpPr txBox="1"/>
          <p:nvPr/>
        </p:nvSpPr>
        <p:spPr>
          <a:xfrm>
            <a:off x="4604918" y="4636008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◑</a:t>
            </a:r>
            <a:endParaRPr/>
          </a:p>
        </p:txBody>
      </p:sp>
      <p:sp>
        <p:nvSpPr>
          <p:cNvPr id="807" name="Google Shape;807;p15"/>
          <p:cNvSpPr txBox="1"/>
          <p:nvPr/>
        </p:nvSpPr>
        <p:spPr>
          <a:xfrm>
            <a:off x="6375196" y="4636008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◐</a:t>
            </a:r>
            <a:endParaRPr/>
          </a:p>
        </p:txBody>
      </p:sp>
      <p:sp>
        <p:nvSpPr>
          <p:cNvPr id="808" name="Google Shape;808;p15"/>
          <p:cNvSpPr txBox="1"/>
          <p:nvPr/>
        </p:nvSpPr>
        <p:spPr>
          <a:xfrm>
            <a:off x="8145475" y="4636008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/>
          </a:p>
        </p:txBody>
      </p:sp>
      <p:sp>
        <p:nvSpPr>
          <p:cNvPr id="809" name="Google Shape;809;p15"/>
          <p:cNvSpPr txBox="1"/>
          <p:nvPr/>
        </p:nvSpPr>
        <p:spPr>
          <a:xfrm>
            <a:off x="9915753" y="4636008"/>
            <a:ext cx="177027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/>
          </a:p>
        </p:txBody>
      </p:sp>
      <p:sp>
        <p:nvSpPr>
          <p:cNvPr id="810" name="Google Shape;810;p15"/>
          <p:cNvSpPr txBox="1"/>
          <p:nvPr/>
        </p:nvSpPr>
        <p:spPr>
          <a:xfrm>
            <a:off x="502920" y="5202936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</a:t>
            </a:r>
            <a:endParaRPr/>
          </a:p>
        </p:txBody>
      </p:sp>
      <p:sp>
        <p:nvSpPr>
          <p:cNvPr id="811" name="Google Shape;811;p15"/>
          <p:cNvSpPr txBox="1"/>
          <p:nvPr/>
        </p:nvSpPr>
        <p:spPr>
          <a:xfrm>
            <a:off x="758952" y="5212080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Full access</a:t>
            </a:r>
            <a:endParaRPr/>
          </a:p>
        </p:txBody>
      </p:sp>
      <p:sp>
        <p:nvSpPr>
          <p:cNvPr id="812" name="Google Shape;812;p15"/>
          <p:cNvSpPr txBox="1"/>
          <p:nvPr/>
        </p:nvSpPr>
        <p:spPr>
          <a:xfrm>
            <a:off x="2697480" y="5202936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◐</a:t>
            </a:r>
            <a:endParaRPr/>
          </a:p>
        </p:txBody>
      </p:sp>
      <p:sp>
        <p:nvSpPr>
          <p:cNvPr id="813" name="Google Shape;813;p15"/>
          <p:cNvSpPr txBox="1"/>
          <p:nvPr/>
        </p:nvSpPr>
        <p:spPr>
          <a:xfrm>
            <a:off x="2953512" y="5212080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Read only</a:t>
            </a:r>
            <a:endParaRPr/>
          </a:p>
        </p:txBody>
      </p:sp>
      <p:sp>
        <p:nvSpPr>
          <p:cNvPr id="814" name="Google Shape;814;p15"/>
          <p:cNvSpPr txBox="1"/>
          <p:nvPr/>
        </p:nvSpPr>
        <p:spPr>
          <a:xfrm>
            <a:off x="4892040" y="5202936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◑</a:t>
            </a:r>
            <a:endParaRPr/>
          </a:p>
        </p:txBody>
      </p:sp>
      <p:sp>
        <p:nvSpPr>
          <p:cNvPr id="815" name="Google Shape;815;p15"/>
          <p:cNvSpPr txBox="1"/>
          <p:nvPr/>
        </p:nvSpPr>
        <p:spPr>
          <a:xfrm>
            <a:off x="5148072" y="5212080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Own patients only</a:t>
            </a:r>
            <a:endParaRPr/>
          </a:p>
        </p:txBody>
      </p:sp>
      <p:sp>
        <p:nvSpPr>
          <p:cNvPr id="816" name="Google Shape;816;p15"/>
          <p:cNvSpPr txBox="1"/>
          <p:nvPr/>
        </p:nvSpPr>
        <p:spPr>
          <a:xfrm>
            <a:off x="7086600" y="5202936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–</a:t>
            </a:r>
            <a:endParaRPr/>
          </a:p>
        </p:txBody>
      </p:sp>
      <p:sp>
        <p:nvSpPr>
          <p:cNvPr id="817" name="Google Shape;817;p15"/>
          <p:cNvSpPr txBox="1"/>
          <p:nvPr/>
        </p:nvSpPr>
        <p:spPr>
          <a:xfrm>
            <a:off x="7342631" y="5212080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access</a:t>
            </a:r>
            <a:endParaRPr/>
          </a:p>
        </p:txBody>
      </p:sp>
      <p:sp>
        <p:nvSpPr>
          <p:cNvPr id="818" name="Google Shape;818;p15"/>
          <p:cNvSpPr/>
          <p:nvPr/>
        </p:nvSpPr>
        <p:spPr>
          <a:xfrm>
            <a:off x="502920" y="5495544"/>
            <a:ext cx="11183111" cy="411480"/>
          </a:xfrm>
          <a:prstGeom prst="roundRect">
            <a:avLst>
              <a:gd fmla="val 12000" name="adj"/>
            </a:avLst>
          </a:prstGeom>
          <a:solidFill>
            <a:srgbClr val="FAF3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5"/>
          <p:cNvSpPr txBox="1"/>
          <p:nvPr/>
        </p:nvSpPr>
        <p:spPr>
          <a:xfrm>
            <a:off x="731520" y="5495544"/>
            <a:ext cx="1072591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Access is enforced by the database itself, not the screen — a locked module means the query never returns that data for the signed-in role.</a:t>
            </a:r>
            <a:endParaRPr/>
          </a:p>
        </p:txBody>
      </p:sp>
      <p:cxnSp>
        <p:nvCxnSpPr>
          <p:cNvPr id="820" name="Google Shape;820;p15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821" name="Google Shape;8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15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823" name="Google Shape;823;p15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Access &amp; Identity</a:t>
            </a:r>
            <a:endParaRPr/>
          </a:p>
        </p:txBody>
      </p:sp>
      <p:sp>
        <p:nvSpPr>
          <p:cNvPr id="824" name="Google Shape;824;p15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 / 26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6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6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ICT SOLUTIONS · CYBER SECURITY</a:t>
            </a:r>
            <a:endParaRPr/>
          </a:p>
        </p:txBody>
      </p:sp>
      <p:sp>
        <p:nvSpPr>
          <p:cNvPr id="831" name="Google Shape;831;p16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Backup, Continuity &amp; Data Protection</a:t>
            </a:r>
            <a:endParaRPr/>
          </a:p>
        </p:txBody>
      </p:sp>
      <p:sp>
        <p:nvSpPr>
          <p:cNvPr id="832" name="Google Shape;832;p16"/>
          <p:cNvSpPr txBox="1"/>
          <p:nvPr/>
        </p:nvSpPr>
        <p:spPr>
          <a:xfrm>
            <a:off x="502920" y="13258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Nine controls, running today in the prototype's security module</a:t>
            </a:r>
            <a:endParaRPr/>
          </a:p>
        </p:txBody>
      </p:sp>
      <p:sp>
        <p:nvSpPr>
          <p:cNvPr id="833" name="Google Shape;833;p16"/>
          <p:cNvSpPr/>
          <p:nvPr/>
        </p:nvSpPr>
        <p:spPr>
          <a:xfrm>
            <a:off x="502920" y="169164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6"/>
          <p:cNvSpPr/>
          <p:nvPr/>
        </p:nvSpPr>
        <p:spPr>
          <a:xfrm>
            <a:off x="502920" y="1874519"/>
            <a:ext cx="3575303" cy="10515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6"/>
          <p:cNvSpPr/>
          <p:nvPr/>
        </p:nvSpPr>
        <p:spPr>
          <a:xfrm>
            <a:off x="649224" y="2217420"/>
            <a:ext cx="365760" cy="365760"/>
          </a:xfrm>
          <a:prstGeom prst="ellipse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836" name="Google Shape;836;p16"/>
          <p:cNvSpPr txBox="1"/>
          <p:nvPr/>
        </p:nvSpPr>
        <p:spPr>
          <a:xfrm>
            <a:off x="1124712" y="2002536"/>
            <a:ext cx="2788920" cy="795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Hosting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Cloud, Australian region</a:t>
            </a:r>
            <a:endParaRPr/>
          </a:p>
        </p:txBody>
      </p:sp>
      <p:sp>
        <p:nvSpPr>
          <p:cNvPr id="837" name="Google Shape;837;p16"/>
          <p:cNvSpPr/>
          <p:nvPr/>
        </p:nvSpPr>
        <p:spPr>
          <a:xfrm>
            <a:off x="4261103" y="1874519"/>
            <a:ext cx="3575303" cy="10515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6"/>
          <p:cNvSpPr/>
          <p:nvPr/>
        </p:nvSpPr>
        <p:spPr>
          <a:xfrm>
            <a:off x="4407407" y="2217420"/>
            <a:ext cx="365760" cy="365760"/>
          </a:xfrm>
          <a:prstGeom prst="ellipse">
            <a:avLst/>
          </a:prstGeom>
          <a:solidFill>
            <a:srgbClr val="D9754A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839" name="Google Shape;839;p16"/>
          <p:cNvSpPr txBox="1"/>
          <p:nvPr/>
        </p:nvSpPr>
        <p:spPr>
          <a:xfrm>
            <a:off x="4882895" y="2002536"/>
            <a:ext cx="2788920" cy="795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Encryption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 rest and in transit</a:t>
            </a:r>
            <a:endParaRPr/>
          </a:p>
        </p:txBody>
      </p:sp>
      <p:sp>
        <p:nvSpPr>
          <p:cNvPr id="840" name="Google Shape;840;p16"/>
          <p:cNvSpPr/>
          <p:nvPr/>
        </p:nvSpPr>
        <p:spPr>
          <a:xfrm>
            <a:off x="8019288" y="1874519"/>
            <a:ext cx="3575303" cy="10515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6"/>
          <p:cNvSpPr/>
          <p:nvPr/>
        </p:nvSpPr>
        <p:spPr>
          <a:xfrm>
            <a:off x="8165592" y="2217420"/>
            <a:ext cx="365760" cy="365760"/>
          </a:xfrm>
          <a:prstGeom prst="ellipse">
            <a:avLst/>
          </a:prstGeom>
          <a:solidFill>
            <a:srgbClr val="B9822A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842" name="Google Shape;842;p16"/>
          <p:cNvSpPr txBox="1"/>
          <p:nvPr/>
        </p:nvSpPr>
        <p:spPr>
          <a:xfrm>
            <a:off x="8641080" y="2002536"/>
            <a:ext cx="2788920" cy="795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Backups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3-2-1, restore-tested regularly</a:t>
            </a:r>
            <a:endParaRPr/>
          </a:p>
        </p:txBody>
      </p:sp>
      <p:sp>
        <p:nvSpPr>
          <p:cNvPr id="843" name="Google Shape;843;p16"/>
          <p:cNvSpPr/>
          <p:nvPr/>
        </p:nvSpPr>
        <p:spPr>
          <a:xfrm>
            <a:off x="502920" y="3108959"/>
            <a:ext cx="3575303" cy="10515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6"/>
          <p:cNvSpPr/>
          <p:nvPr/>
        </p:nvSpPr>
        <p:spPr>
          <a:xfrm>
            <a:off x="649224" y="3451859"/>
            <a:ext cx="365760" cy="365760"/>
          </a:xfrm>
          <a:prstGeom prst="ellipse">
            <a:avLst/>
          </a:prstGeom>
          <a:solidFill>
            <a:srgbClr val="3AAFA9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845" name="Google Shape;845;p16"/>
          <p:cNvSpPr txBox="1"/>
          <p:nvPr/>
        </p:nvSpPr>
        <p:spPr>
          <a:xfrm>
            <a:off x="1124712" y="3236975"/>
            <a:ext cx="2788920" cy="795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Redundancy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Automatic failover active</a:t>
            </a:r>
            <a:endParaRPr/>
          </a:p>
        </p:txBody>
      </p:sp>
      <p:sp>
        <p:nvSpPr>
          <p:cNvPr id="846" name="Google Shape;846;p16"/>
          <p:cNvSpPr/>
          <p:nvPr/>
        </p:nvSpPr>
        <p:spPr>
          <a:xfrm>
            <a:off x="4261103" y="3108959"/>
            <a:ext cx="3575303" cy="10515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6"/>
          <p:cNvSpPr/>
          <p:nvPr/>
        </p:nvSpPr>
        <p:spPr>
          <a:xfrm>
            <a:off x="4407407" y="3451859"/>
            <a:ext cx="365760" cy="365760"/>
          </a:xfrm>
          <a:prstGeom prst="ellipse">
            <a:avLst/>
          </a:prstGeom>
          <a:solidFill>
            <a:srgbClr val="B5493A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848" name="Google Shape;848;p16"/>
          <p:cNvSpPr txBox="1"/>
          <p:nvPr/>
        </p:nvSpPr>
        <p:spPr>
          <a:xfrm>
            <a:off x="4882895" y="3236975"/>
            <a:ext cx="2788920" cy="795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Ransomware Protection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Endpoint plus immutable backups</a:t>
            </a:r>
            <a:endParaRPr/>
          </a:p>
        </p:txBody>
      </p:sp>
      <p:sp>
        <p:nvSpPr>
          <p:cNvPr id="849" name="Google Shape;849;p16"/>
          <p:cNvSpPr/>
          <p:nvPr/>
        </p:nvSpPr>
        <p:spPr>
          <a:xfrm>
            <a:off x="8019288" y="3108959"/>
            <a:ext cx="3575303" cy="10515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6"/>
          <p:cNvSpPr/>
          <p:nvPr/>
        </p:nvSpPr>
        <p:spPr>
          <a:xfrm>
            <a:off x="8165592" y="3451859"/>
            <a:ext cx="365760" cy="365760"/>
          </a:xfrm>
          <a:prstGeom prst="ellipse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851" name="Google Shape;851;p16"/>
          <p:cNvSpPr txBox="1"/>
          <p:nvPr/>
        </p:nvSpPr>
        <p:spPr>
          <a:xfrm>
            <a:off x="8641080" y="3236975"/>
            <a:ext cx="2788920" cy="795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Patching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OS and clinical software current</a:t>
            </a:r>
            <a:endParaRPr/>
          </a:p>
        </p:txBody>
      </p:sp>
      <p:sp>
        <p:nvSpPr>
          <p:cNvPr id="852" name="Google Shape;852;p16"/>
          <p:cNvSpPr/>
          <p:nvPr/>
        </p:nvSpPr>
        <p:spPr>
          <a:xfrm>
            <a:off x="502920" y="4343400"/>
            <a:ext cx="3575303" cy="10515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6"/>
          <p:cNvSpPr/>
          <p:nvPr/>
        </p:nvSpPr>
        <p:spPr>
          <a:xfrm>
            <a:off x="649224" y="4686300"/>
            <a:ext cx="365760" cy="365760"/>
          </a:xfrm>
          <a:prstGeom prst="ellipse">
            <a:avLst/>
          </a:prstGeom>
          <a:solidFill>
            <a:srgbClr val="D9754A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854" name="Google Shape;854;p16"/>
          <p:cNvSpPr txBox="1"/>
          <p:nvPr/>
        </p:nvSpPr>
        <p:spPr>
          <a:xfrm>
            <a:off x="1124712" y="4471416"/>
            <a:ext cx="2788920" cy="795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Remote Access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Multi-factor, no local copies</a:t>
            </a:r>
            <a:endParaRPr/>
          </a:p>
        </p:txBody>
      </p:sp>
      <p:sp>
        <p:nvSpPr>
          <p:cNvPr id="855" name="Google Shape;855;p16"/>
          <p:cNvSpPr/>
          <p:nvPr/>
        </p:nvSpPr>
        <p:spPr>
          <a:xfrm>
            <a:off x="4261103" y="4343400"/>
            <a:ext cx="3575303" cy="10515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6"/>
          <p:cNvSpPr/>
          <p:nvPr/>
        </p:nvSpPr>
        <p:spPr>
          <a:xfrm>
            <a:off x="4407407" y="4686300"/>
            <a:ext cx="365760" cy="365760"/>
          </a:xfrm>
          <a:prstGeom prst="ellipse">
            <a:avLst/>
          </a:prstGeom>
          <a:solidFill>
            <a:srgbClr val="B9822A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857" name="Google Shape;857;p16"/>
          <p:cNvSpPr txBox="1"/>
          <p:nvPr/>
        </p:nvSpPr>
        <p:spPr>
          <a:xfrm>
            <a:off x="4882895" y="4471416"/>
            <a:ext cx="2788920" cy="795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Secure Printing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Badge release, no unclaimed prints</a:t>
            </a:r>
            <a:endParaRPr/>
          </a:p>
        </p:txBody>
      </p:sp>
      <p:sp>
        <p:nvSpPr>
          <p:cNvPr id="858" name="Google Shape;858;p16"/>
          <p:cNvSpPr/>
          <p:nvPr/>
        </p:nvSpPr>
        <p:spPr>
          <a:xfrm>
            <a:off x="8019288" y="4343400"/>
            <a:ext cx="3575303" cy="10515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6"/>
          <p:cNvSpPr/>
          <p:nvPr/>
        </p:nvSpPr>
        <p:spPr>
          <a:xfrm>
            <a:off x="8165592" y="4686300"/>
            <a:ext cx="365760" cy="365760"/>
          </a:xfrm>
          <a:prstGeom prst="ellipse">
            <a:avLst/>
          </a:prstGeom>
          <a:solidFill>
            <a:srgbClr val="3AAFA9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860" name="Google Shape;860;p16"/>
          <p:cNvSpPr txBox="1"/>
          <p:nvPr/>
        </p:nvSpPr>
        <p:spPr>
          <a:xfrm>
            <a:off x="8641080" y="4471416"/>
            <a:ext cx="2788920" cy="795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Breach Monitoring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Access logging and alerts, breach-scheme ready</a:t>
            </a:r>
            <a:endParaRPr/>
          </a:p>
        </p:txBody>
      </p:sp>
      <p:sp>
        <p:nvSpPr>
          <p:cNvPr id="861" name="Google Shape;861;p16"/>
          <p:cNvSpPr/>
          <p:nvPr/>
        </p:nvSpPr>
        <p:spPr>
          <a:xfrm>
            <a:off x="502920" y="5623560"/>
            <a:ext cx="11183111" cy="457200"/>
          </a:xfrm>
          <a:prstGeom prst="roundRect">
            <a:avLst>
              <a:gd fmla="val 12000" name="adj"/>
            </a:avLst>
          </a:prstGeom>
          <a:solidFill>
            <a:srgbClr val="E4F1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16"/>
          <p:cNvSpPr txBox="1"/>
          <p:nvPr/>
        </p:nvSpPr>
        <p:spPr>
          <a:xfrm>
            <a:off x="731520" y="5623560"/>
            <a:ext cx="1072591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Materially reduced ransomware exposure vs. self-managed IT — no single point of failure, no single point of control.</a:t>
            </a:r>
            <a:endParaRPr/>
          </a:p>
        </p:txBody>
      </p:sp>
      <p:cxnSp>
        <p:nvCxnSpPr>
          <p:cNvPr id="863" name="Google Shape;863;p16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864" name="Google Shape;86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16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866" name="Google Shape;866;p16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Backup &amp; Continuity</a:t>
            </a:r>
            <a:endParaRPr/>
          </a:p>
        </p:txBody>
      </p:sp>
      <p:sp>
        <p:nvSpPr>
          <p:cNvPr id="867" name="Google Shape;867;p16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 / 26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7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17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ICT SOLUTIONS · CYBER SECURITY</a:t>
            </a:r>
            <a:endParaRPr/>
          </a:p>
        </p:txBody>
      </p:sp>
      <p:sp>
        <p:nvSpPr>
          <p:cNvPr id="874" name="Google Shape;874;p17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Compliance &amp; Governance</a:t>
            </a:r>
            <a:endParaRPr/>
          </a:p>
        </p:txBody>
      </p:sp>
      <p:sp>
        <p:nvSpPr>
          <p:cNvPr id="875" name="Google Shape;875;p17"/>
          <p:cNvSpPr txBox="1"/>
          <p:nvPr/>
        </p:nvSpPr>
        <p:spPr>
          <a:xfrm>
            <a:off x="502920" y="13258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the practice is obligated to meet, and how the system meets it</a:t>
            </a:r>
            <a:endParaRPr/>
          </a:p>
        </p:txBody>
      </p:sp>
      <p:sp>
        <p:nvSpPr>
          <p:cNvPr id="876" name="Google Shape;876;p17"/>
          <p:cNvSpPr/>
          <p:nvPr/>
        </p:nvSpPr>
        <p:spPr>
          <a:xfrm>
            <a:off x="502920" y="169164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17"/>
          <p:cNvSpPr/>
          <p:nvPr/>
        </p:nvSpPr>
        <p:spPr>
          <a:xfrm>
            <a:off x="502920" y="1828800"/>
            <a:ext cx="4114800" cy="12344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7"/>
          <p:cNvSpPr/>
          <p:nvPr/>
        </p:nvSpPr>
        <p:spPr>
          <a:xfrm>
            <a:off x="502920" y="1828800"/>
            <a:ext cx="82296" cy="1234440"/>
          </a:xfrm>
          <a:prstGeom prst="roundRect">
            <a:avLst>
              <a:gd fmla="val 0" name="adj"/>
            </a:avLst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7"/>
          <p:cNvSpPr txBox="1"/>
          <p:nvPr/>
        </p:nvSpPr>
        <p:spPr>
          <a:xfrm>
            <a:off x="777240" y="1993392"/>
            <a:ext cx="3611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7-Year Record Retention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 years for minors — Qld Health / RANZCP guidance</a:t>
            </a:r>
            <a:endParaRPr/>
          </a:p>
        </p:txBody>
      </p:sp>
      <p:sp>
        <p:nvSpPr>
          <p:cNvPr id="880" name="Google Shape;880;p17"/>
          <p:cNvSpPr/>
          <p:nvPr/>
        </p:nvSpPr>
        <p:spPr>
          <a:xfrm>
            <a:off x="502920" y="3246120"/>
            <a:ext cx="4114800" cy="12344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7"/>
          <p:cNvSpPr/>
          <p:nvPr/>
        </p:nvSpPr>
        <p:spPr>
          <a:xfrm>
            <a:off x="502920" y="3246120"/>
            <a:ext cx="82296" cy="1234440"/>
          </a:xfrm>
          <a:prstGeom prst="roundRect">
            <a:avLst>
              <a:gd fmla="val 0" name="adj"/>
            </a:avLst>
          </a:prstGeom>
          <a:solidFill>
            <a:srgbClr val="D975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7"/>
          <p:cNvSpPr txBox="1"/>
          <p:nvPr/>
        </p:nvSpPr>
        <p:spPr>
          <a:xfrm>
            <a:off x="777240" y="3410712"/>
            <a:ext cx="3611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Notifiable Data Breaches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Applies regardless of turnover — health service providers are always covered (OAIC)</a:t>
            </a:r>
            <a:endParaRPr/>
          </a:p>
        </p:txBody>
      </p:sp>
      <p:sp>
        <p:nvSpPr>
          <p:cNvPr id="883" name="Google Shape;883;p17"/>
          <p:cNvSpPr/>
          <p:nvPr/>
        </p:nvSpPr>
        <p:spPr>
          <a:xfrm>
            <a:off x="502920" y="4663440"/>
            <a:ext cx="4114800" cy="12344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17"/>
          <p:cNvSpPr/>
          <p:nvPr/>
        </p:nvSpPr>
        <p:spPr>
          <a:xfrm>
            <a:off x="502920" y="4663440"/>
            <a:ext cx="82296" cy="1234440"/>
          </a:xfrm>
          <a:prstGeom prst="roundRect">
            <a:avLst>
              <a:gd fmla="val 0" name="adj"/>
            </a:avLst>
          </a:prstGeom>
          <a:solidFill>
            <a:srgbClr val="B982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17"/>
          <p:cNvSpPr txBox="1"/>
          <p:nvPr/>
        </p:nvSpPr>
        <p:spPr>
          <a:xfrm>
            <a:off x="777240" y="4828031"/>
            <a:ext cx="3611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Australian Data Residency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Patient data never leaves Australian jurisdiction</a:t>
            </a:r>
            <a:endParaRPr/>
          </a:p>
        </p:txBody>
      </p:sp>
      <p:sp>
        <p:nvSpPr>
          <p:cNvPr id="886" name="Google Shape;886;p17"/>
          <p:cNvSpPr txBox="1"/>
          <p:nvPr/>
        </p:nvSpPr>
        <p:spPr>
          <a:xfrm>
            <a:off x="4983480" y="1828800"/>
            <a:ext cx="670255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AUDIT LOG — EVERY VIEW RECORDED</a:t>
            </a:r>
            <a:endParaRPr/>
          </a:p>
        </p:txBody>
      </p:sp>
      <p:sp>
        <p:nvSpPr>
          <p:cNvPr id="887" name="Google Shape;887;p17"/>
          <p:cNvSpPr/>
          <p:nvPr/>
        </p:nvSpPr>
        <p:spPr>
          <a:xfrm>
            <a:off x="4983480" y="2148840"/>
            <a:ext cx="6702551" cy="1965960"/>
          </a:xfrm>
          <a:prstGeom prst="roundRect">
            <a:avLst>
              <a:gd fmla="val 10000" name="adj"/>
            </a:avLst>
          </a:prstGeom>
          <a:solidFill>
            <a:srgbClr val="362E27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17"/>
          <p:cNvSpPr txBox="1"/>
          <p:nvPr/>
        </p:nvSpPr>
        <p:spPr>
          <a:xfrm>
            <a:off x="5212080" y="2331720"/>
            <a:ext cx="624535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E4F1EE"/>
                </a:solidFill>
                <a:latin typeface="Consolas"/>
                <a:ea typeface="Consolas"/>
                <a:cs typeface="Consolas"/>
                <a:sym typeface="Consolas"/>
              </a:rPr>
              <a:t>09:41:03  Dr Paul Simmons     opened module: security</a:t>
            </a:r>
            <a:endParaRPr/>
          </a:p>
        </p:txBody>
      </p:sp>
      <p:sp>
        <p:nvSpPr>
          <p:cNvPr id="889" name="Google Shape;889;p17"/>
          <p:cNvSpPr txBox="1"/>
          <p:nvPr/>
        </p:nvSpPr>
        <p:spPr>
          <a:xfrm>
            <a:off x="5212080" y="2715768"/>
            <a:ext cx="624535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E4F1EE"/>
                </a:solidFill>
                <a:latin typeface="Consolas"/>
                <a:ea typeface="Consolas"/>
                <a:cs typeface="Consolas"/>
                <a:sym typeface="Consolas"/>
              </a:rPr>
              <a:t>09:41:47  Helen Simmons       opened record: Noah Brown</a:t>
            </a:r>
            <a:endParaRPr/>
          </a:p>
        </p:txBody>
      </p:sp>
      <p:sp>
        <p:nvSpPr>
          <p:cNvPr id="890" name="Google Shape;890;p17"/>
          <p:cNvSpPr txBox="1"/>
          <p:nvPr/>
        </p:nvSpPr>
        <p:spPr>
          <a:xfrm>
            <a:off x="5212080" y="3099815"/>
            <a:ext cx="624535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E4F1EE"/>
                </a:solidFill>
                <a:latin typeface="Consolas"/>
                <a:ea typeface="Consolas"/>
                <a:cs typeface="Consolas"/>
                <a:sym typeface="Consolas"/>
              </a:rPr>
              <a:t>09:42:15  Dr James Chen       opened record: Olivia Taylor</a:t>
            </a:r>
            <a:endParaRPr/>
          </a:p>
        </p:txBody>
      </p:sp>
      <p:sp>
        <p:nvSpPr>
          <p:cNvPr id="891" name="Google Shape;891;p17"/>
          <p:cNvSpPr txBox="1"/>
          <p:nvPr/>
        </p:nvSpPr>
        <p:spPr>
          <a:xfrm>
            <a:off x="5212080" y="3483863"/>
            <a:ext cx="624535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E4F1EE"/>
                </a:solidFill>
                <a:latin typeface="Consolas"/>
                <a:ea typeface="Consolas"/>
                <a:cs typeface="Consolas"/>
                <a:sym typeface="Consolas"/>
              </a:rPr>
              <a:t>09:43:02  Sophie Nguyen       opened module: patients</a:t>
            </a:r>
            <a:endParaRPr/>
          </a:p>
        </p:txBody>
      </p:sp>
      <p:sp>
        <p:nvSpPr>
          <p:cNvPr id="892" name="Google Shape;892;p17"/>
          <p:cNvSpPr txBox="1"/>
          <p:nvPr/>
        </p:nvSpPr>
        <p:spPr>
          <a:xfrm>
            <a:off x="4983480" y="4297680"/>
            <a:ext cx="6702551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view is logged against the signed-in user — not just who has access, but who looked, when.</a:t>
            </a:r>
            <a:endParaRPr/>
          </a:p>
        </p:txBody>
      </p:sp>
      <p:sp>
        <p:nvSpPr>
          <p:cNvPr id="893" name="Google Shape;893;p17"/>
          <p:cNvSpPr/>
          <p:nvPr/>
        </p:nvSpPr>
        <p:spPr>
          <a:xfrm>
            <a:off x="4983480" y="5257800"/>
            <a:ext cx="6702551" cy="777240"/>
          </a:xfrm>
          <a:prstGeom prst="roundRect">
            <a:avLst>
              <a:gd fmla="val 12000" name="adj"/>
            </a:avLst>
          </a:prstGeom>
          <a:solidFill>
            <a:srgbClr val="FAF3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17"/>
          <p:cNvSpPr txBox="1"/>
          <p:nvPr/>
        </p:nvSpPr>
        <p:spPr>
          <a:xfrm>
            <a:off x="5184648" y="5257800"/>
            <a:ext cx="63002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“Access is enforced by the database itself, not the screen — a locked module means the query never returns that data for the signed-in role.”</a:t>
            </a:r>
            <a:endParaRPr/>
          </a:p>
        </p:txBody>
      </p:sp>
      <p:cxnSp>
        <p:nvCxnSpPr>
          <p:cNvPr id="895" name="Google Shape;895;p17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896" name="Google Shape;8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17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898" name="Google Shape;898;p17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Compliance &amp; Governance</a:t>
            </a:r>
            <a:endParaRPr/>
          </a:p>
        </p:txBody>
      </p:sp>
      <p:sp>
        <p:nvSpPr>
          <p:cNvPr id="899" name="Google Shape;899;p17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 / 26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8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18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ICT SOLUTIONS · AI ENGINEERING</a:t>
            </a:r>
            <a:endParaRPr/>
          </a:p>
        </p:txBody>
      </p:sp>
      <p:sp>
        <p:nvSpPr>
          <p:cNvPr id="906" name="Google Shape;906;p18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Engineering</a:t>
            </a:r>
            <a:endParaRPr/>
          </a:p>
        </p:txBody>
      </p:sp>
      <p:sp>
        <p:nvSpPr>
          <p:cNvPr id="907" name="Google Shape;907;p18"/>
          <p:cNvSpPr txBox="1"/>
          <p:nvPr/>
        </p:nvSpPr>
        <p:spPr>
          <a:xfrm>
            <a:off x="502920" y="13258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Workflow, Automation &amp; Scalability — layered on the data foundation</a:t>
            </a:r>
            <a:endParaRPr/>
          </a:p>
        </p:txBody>
      </p:sp>
      <p:sp>
        <p:nvSpPr>
          <p:cNvPr id="908" name="Google Shape;908;p18"/>
          <p:cNvSpPr/>
          <p:nvPr/>
        </p:nvSpPr>
        <p:spPr>
          <a:xfrm>
            <a:off x="502920" y="169164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18"/>
          <p:cNvSpPr/>
          <p:nvPr/>
        </p:nvSpPr>
        <p:spPr>
          <a:xfrm>
            <a:off x="502920" y="1783080"/>
            <a:ext cx="2112264" cy="21488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18"/>
          <p:cNvSpPr/>
          <p:nvPr/>
        </p:nvSpPr>
        <p:spPr>
          <a:xfrm>
            <a:off x="1293876" y="1883664"/>
            <a:ext cx="530352" cy="530352"/>
          </a:xfrm>
          <a:prstGeom prst="ellipse">
            <a:avLst/>
          </a:prstGeom>
          <a:solidFill>
            <a:srgbClr val="2F8577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</a:t>
            </a:r>
            <a:endParaRPr/>
          </a:p>
        </p:txBody>
      </p:sp>
      <p:sp>
        <p:nvSpPr>
          <p:cNvPr id="911" name="Google Shape;911;p18"/>
          <p:cNvSpPr txBox="1"/>
          <p:nvPr/>
        </p:nvSpPr>
        <p:spPr>
          <a:xfrm>
            <a:off x="649224" y="2514600"/>
            <a:ext cx="1819656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Ambient Clinical Scribing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Buy-and-integrate transcription drafts consult notes for GP review.</a:t>
            </a:r>
            <a:endParaRPr/>
          </a:p>
        </p:txBody>
      </p:sp>
      <p:sp>
        <p:nvSpPr>
          <p:cNvPr id="912" name="Google Shape;912;p18"/>
          <p:cNvSpPr/>
          <p:nvPr/>
        </p:nvSpPr>
        <p:spPr>
          <a:xfrm>
            <a:off x="2752344" y="1783080"/>
            <a:ext cx="2112264" cy="21488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18"/>
          <p:cNvSpPr/>
          <p:nvPr/>
        </p:nvSpPr>
        <p:spPr>
          <a:xfrm>
            <a:off x="3543300" y="1883664"/>
            <a:ext cx="530352" cy="530352"/>
          </a:xfrm>
          <a:prstGeom prst="ellipse">
            <a:avLst/>
          </a:prstGeom>
          <a:solidFill>
            <a:srgbClr val="D9754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/>
          </a:p>
        </p:txBody>
      </p:sp>
      <p:sp>
        <p:nvSpPr>
          <p:cNvPr id="914" name="Google Shape;914;p18"/>
          <p:cNvSpPr txBox="1"/>
          <p:nvPr/>
        </p:nvSpPr>
        <p:spPr>
          <a:xfrm>
            <a:off x="2898648" y="2514600"/>
            <a:ext cx="1819656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No-show Prediction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Scores upcoming bookings against attendance history to target reminder follow-up.</a:t>
            </a:r>
            <a:endParaRPr/>
          </a:p>
        </p:txBody>
      </p:sp>
      <p:sp>
        <p:nvSpPr>
          <p:cNvPr id="915" name="Google Shape;915;p18"/>
          <p:cNvSpPr/>
          <p:nvPr/>
        </p:nvSpPr>
        <p:spPr>
          <a:xfrm>
            <a:off x="5001768" y="1783080"/>
            <a:ext cx="2112264" cy="21488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18"/>
          <p:cNvSpPr/>
          <p:nvPr/>
        </p:nvSpPr>
        <p:spPr>
          <a:xfrm>
            <a:off x="5792724" y="1883664"/>
            <a:ext cx="530352" cy="530352"/>
          </a:xfrm>
          <a:prstGeom prst="ellipse">
            <a:avLst/>
          </a:prstGeom>
          <a:solidFill>
            <a:srgbClr val="B9822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</a:t>
            </a:r>
            <a:endParaRPr/>
          </a:p>
        </p:txBody>
      </p:sp>
      <p:sp>
        <p:nvSpPr>
          <p:cNvPr id="917" name="Google Shape;917;p18"/>
          <p:cNvSpPr txBox="1"/>
          <p:nvPr/>
        </p:nvSpPr>
        <p:spPr>
          <a:xfrm>
            <a:off x="5148072" y="2514600"/>
            <a:ext cx="1819656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Billing &amp; Coding Assistance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Flags likely missed Medicare items before claims are submitted.</a:t>
            </a:r>
            <a:endParaRPr/>
          </a:p>
        </p:txBody>
      </p:sp>
      <p:sp>
        <p:nvSpPr>
          <p:cNvPr id="918" name="Google Shape;918;p18"/>
          <p:cNvSpPr/>
          <p:nvPr/>
        </p:nvSpPr>
        <p:spPr>
          <a:xfrm>
            <a:off x="7251192" y="1783080"/>
            <a:ext cx="2112264" cy="21488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18"/>
          <p:cNvSpPr/>
          <p:nvPr/>
        </p:nvSpPr>
        <p:spPr>
          <a:xfrm>
            <a:off x="8042148" y="1883664"/>
            <a:ext cx="530352" cy="530352"/>
          </a:xfrm>
          <a:prstGeom prst="ellipse">
            <a:avLst/>
          </a:prstGeom>
          <a:solidFill>
            <a:srgbClr val="3AAFA9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?</a:t>
            </a:r>
            <a:endParaRPr/>
          </a:p>
        </p:txBody>
      </p:sp>
      <p:sp>
        <p:nvSpPr>
          <p:cNvPr id="920" name="Google Shape;920;p18"/>
          <p:cNvSpPr txBox="1"/>
          <p:nvPr/>
        </p:nvSpPr>
        <p:spPr>
          <a:xfrm>
            <a:off x="7397496" y="2514600"/>
            <a:ext cx="1819656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Patient Triage / FAQ Bot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Handles common booking and practice questions, escalating anything clinical.</a:t>
            </a:r>
            <a:endParaRPr/>
          </a:p>
        </p:txBody>
      </p:sp>
      <p:sp>
        <p:nvSpPr>
          <p:cNvPr id="921" name="Google Shape;921;p18"/>
          <p:cNvSpPr/>
          <p:nvPr/>
        </p:nvSpPr>
        <p:spPr>
          <a:xfrm>
            <a:off x="9500616" y="1783080"/>
            <a:ext cx="2112264" cy="21488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18"/>
          <p:cNvSpPr/>
          <p:nvPr/>
        </p:nvSpPr>
        <p:spPr>
          <a:xfrm>
            <a:off x="10291572" y="1883664"/>
            <a:ext cx="530352" cy="530352"/>
          </a:xfrm>
          <a:prstGeom prst="ellipse">
            <a:avLst/>
          </a:prstGeom>
          <a:solidFill>
            <a:srgbClr val="B5493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</a:t>
            </a:r>
            <a:endParaRPr/>
          </a:p>
        </p:txBody>
      </p:sp>
      <p:sp>
        <p:nvSpPr>
          <p:cNvPr id="923" name="Google Shape;923;p18"/>
          <p:cNvSpPr txBox="1"/>
          <p:nvPr/>
        </p:nvSpPr>
        <p:spPr>
          <a:xfrm>
            <a:off x="9646920" y="2514600"/>
            <a:ext cx="1819656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Chronic Disease Recall Automation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Prompts overdue recalls (e.g. care plans, screenings) automatically.</a:t>
            </a:r>
            <a:endParaRPr/>
          </a:p>
        </p:txBody>
      </p:sp>
      <p:sp>
        <p:nvSpPr>
          <p:cNvPr id="924" name="Google Shape;924;p18"/>
          <p:cNvSpPr/>
          <p:nvPr/>
        </p:nvSpPr>
        <p:spPr>
          <a:xfrm>
            <a:off x="502920" y="4160520"/>
            <a:ext cx="11183111" cy="502920"/>
          </a:xfrm>
          <a:prstGeom prst="roundRect">
            <a:avLst>
              <a:gd fmla="val 10000" name="adj"/>
            </a:avLst>
          </a:prstGeom>
          <a:solidFill>
            <a:srgbClr val="FAF3E4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18"/>
          <p:cNvSpPr txBox="1"/>
          <p:nvPr/>
        </p:nvSpPr>
        <p:spPr>
          <a:xfrm>
            <a:off x="731520" y="4160520"/>
            <a:ext cx="10725911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ⓘ  Human-in-the-loop by design: every AI output is reviewed by clinical or admin staff before it reaches a patient record or claim.</a:t>
            </a:r>
            <a:endParaRPr/>
          </a:p>
        </p:txBody>
      </p:sp>
      <p:sp>
        <p:nvSpPr>
          <p:cNvPr id="926" name="Google Shape;926;p18"/>
          <p:cNvSpPr txBox="1"/>
          <p:nvPr/>
        </p:nvSpPr>
        <p:spPr>
          <a:xfrm>
            <a:off x="502920" y="4892040"/>
            <a:ext cx="11183111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APPLIED THROUGH THREE LENSES</a:t>
            </a:r>
            <a:endParaRPr/>
          </a:p>
        </p:txBody>
      </p:sp>
      <p:sp>
        <p:nvSpPr>
          <p:cNvPr id="927" name="Google Shape;927;p18"/>
          <p:cNvSpPr txBox="1"/>
          <p:nvPr/>
        </p:nvSpPr>
        <p:spPr>
          <a:xfrm>
            <a:off x="502920" y="5212080"/>
            <a:ext cx="35448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Workflow</a:t>
            </a:r>
            <a:endParaRPr/>
          </a:p>
        </p:txBody>
      </p:sp>
      <p:sp>
        <p:nvSpPr>
          <p:cNvPr id="928" name="Google Shape;928;p18"/>
          <p:cNvSpPr txBox="1"/>
          <p:nvPr/>
        </p:nvSpPr>
        <p:spPr>
          <a:xfrm>
            <a:off x="502920" y="5532120"/>
            <a:ext cx="35448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Sits inside existing HotDoc / Best Practice screens — no new system for staff to learn</a:t>
            </a:r>
            <a:endParaRPr/>
          </a:p>
        </p:txBody>
      </p:sp>
      <p:sp>
        <p:nvSpPr>
          <p:cNvPr id="929" name="Google Shape;929;p18"/>
          <p:cNvSpPr txBox="1"/>
          <p:nvPr/>
        </p:nvSpPr>
        <p:spPr>
          <a:xfrm>
            <a:off x="4322064" y="5212080"/>
            <a:ext cx="35448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Automation</a:t>
            </a:r>
            <a:endParaRPr/>
          </a:p>
        </p:txBody>
      </p:sp>
      <p:sp>
        <p:nvSpPr>
          <p:cNvPr id="930" name="Google Shape;930;p18"/>
          <p:cNvSpPr txBox="1"/>
          <p:nvPr/>
        </p:nvSpPr>
        <p:spPr>
          <a:xfrm>
            <a:off x="4322064" y="5532120"/>
            <a:ext cx="35448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Reminders, recalls and no-show scoring run on a schedule, not on staff initiative</a:t>
            </a:r>
            <a:endParaRPr/>
          </a:p>
        </p:txBody>
      </p:sp>
      <p:sp>
        <p:nvSpPr>
          <p:cNvPr id="931" name="Google Shape;931;p18"/>
          <p:cNvSpPr txBox="1"/>
          <p:nvPr/>
        </p:nvSpPr>
        <p:spPr>
          <a:xfrm>
            <a:off x="8141208" y="5212080"/>
            <a:ext cx="35448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Scalability</a:t>
            </a:r>
            <a:endParaRPr/>
          </a:p>
        </p:txBody>
      </p:sp>
      <p:sp>
        <p:nvSpPr>
          <p:cNvPr id="932" name="Google Shape;932;p18"/>
          <p:cNvSpPr txBox="1"/>
          <p:nvPr/>
        </p:nvSpPr>
        <p:spPr>
          <a:xfrm>
            <a:off x="8141208" y="5532120"/>
            <a:ext cx="35448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Same data foundation supports more practitioners or a second site without a redesign</a:t>
            </a:r>
            <a:endParaRPr/>
          </a:p>
        </p:txBody>
      </p:sp>
      <p:cxnSp>
        <p:nvCxnSpPr>
          <p:cNvPr id="933" name="Google Shape;933;p18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934" name="Google Shape;9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18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936" name="Google Shape;936;p18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Engineering</a:t>
            </a:r>
            <a:endParaRPr/>
          </a:p>
        </p:txBody>
      </p:sp>
      <p:sp>
        <p:nvSpPr>
          <p:cNvPr id="937" name="Google Shape;937;p18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 / 26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9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19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ICT SOLUTIONS · AI ENGINEERING</a:t>
            </a:r>
            <a:endParaRPr/>
          </a:p>
        </p:txBody>
      </p:sp>
      <p:sp>
        <p:nvSpPr>
          <p:cNvPr id="944" name="Google Shape;944;p19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Virtual Patient Assistant</a:t>
            </a:r>
            <a:endParaRPr/>
          </a:p>
        </p:txBody>
      </p:sp>
      <p:sp>
        <p:nvSpPr>
          <p:cNvPr id="945" name="Google Shape;945;p19"/>
          <p:cNvSpPr txBox="1"/>
          <p:nvPr/>
        </p:nvSpPr>
        <p:spPr>
          <a:xfrm>
            <a:off x="502920" y="13258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Beyond a chatbot — an intelligent digital front desk for Simmons Medical Practice</a:t>
            </a:r>
            <a:endParaRPr/>
          </a:p>
        </p:txBody>
      </p:sp>
      <p:sp>
        <p:nvSpPr>
          <p:cNvPr id="946" name="Google Shape;946;p19"/>
          <p:cNvSpPr/>
          <p:nvPr/>
        </p:nvSpPr>
        <p:spPr>
          <a:xfrm>
            <a:off x="502920" y="169164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19"/>
          <p:cNvSpPr/>
          <p:nvPr/>
        </p:nvSpPr>
        <p:spPr>
          <a:xfrm>
            <a:off x="2697479" y="1737360"/>
            <a:ext cx="2011680" cy="384048"/>
          </a:xfrm>
          <a:prstGeom prst="flowChartTerminator">
            <a:avLst/>
          </a:prstGeom>
          <a:solidFill>
            <a:srgbClr val="3AAFA9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Patient</a:t>
            </a:r>
            <a:endParaRPr/>
          </a:p>
        </p:txBody>
      </p:sp>
      <p:cxnSp>
        <p:nvCxnSpPr>
          <p:cNvPr id="948" name="Google Shape;948;p19"/>
          <p:cNvCxnSpPr/>
          <p:nvPr/>
        </p:nvCxnSpPr>
        <p:spPr>
          <a:xfrm>
            <a:off x="3703320" y="212140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6B5F5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49" name="Google Shape;949;p19"/>
          <p:cNvSpPr/>
          <p:nvPr/>
        </p:nvSpPr>
        <p:spPr>
          <a:xfrm>
            <a:off x="1417319" y="2286000"/>
            <a:ext cx="4572000" cy="658368"/>
          </a:xfrm>
          <a:prstGeom prst="roundRect">
            <a:avLst>
              <a:gd fmla="val 16000" name="adj"/>
            </a:avLst>
          </a:prstGeom>
          <a:solidFill>
            <a:srgbClr val="2F8577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Virtual Patient Assistant</a:t>
            </a:r>
            <a:endParaRPr/>
          </a:p>
        </p:txBody>
      </p:sp>
      <p:cxnSp>
        <p:nvCxnSpPr>
          <p:cNvPr id="950" name="Google Shape;950;p19"/>
          <p:cNvCxnSpPr/>
          <p:nvPr/>
        </p:nvCxnSpPr>
        <p:spPr>
          <a:xfrm>
            <a:off x="3703320" y="2944368"/>
            <a:ext cx="0" cy="54864"/>
          </a:xfrm>
          <a:prstGeom prst="straightConnector1">
            <a:avLst/>
          </a:prstGeom>
          <a:noFill/>
          <a:ln cap="flat" cmpd="sng" w="1270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1" name="Google Shape;951;p19"/>
          <p:cNvCxnSpPr/>
          <p:nvPr/>
        </p:nvCxnSpPr>
        <p:spPr>
          <a:xfrm>
            <a:off x="2514600" y="2999232"/>
            <a:ext cx="2377440" cy="0"/>
          </a:xfrm>
          <a:prstGeom prst="straightConnector1">
            <a:avLst/>
          </a:prstGeom>
          <a:noFill/>
          <a:ln cap="flat" cmpd="sng" w="1270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2" name="Google Shape;952;p19"/>
          <p:cNvCxnSpPr/>
          <p:nvPr/>
        </p:nvCxnSpPr>
        <p:spPr>
          <a:xfrm>
            <a:off x="2514600" y="2999232"/>
            <a:ext cx="0" cy="64008"/>
          </a:xfrm>
          <a:prstGeom prst="straightConnector1">
            <a:avLst/>
          </a:prstGeom>
          <a:noFill/>
          <a:ln cap="flat" cmpd="sng" w="1270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3" name="Google Shape;953;p19"/>
          <p:cNvSpPr/>
          <p:nvPr/>
        </p:nvSpPr>
        <p:spPr>
          <a:xfrm>
            <a:off x="1417319" y="3063240"/>
            <a:ext cx="2194560" cy="457200"/>
          </a:xfrm>
          <a:prstGeom prst="roundRect">
            <a:avLst>
              <a:gd fmla="val 18000" name="adj"/>
            </a:avLst>
          </a:prstGeom>
          <a:solidFill>
            <a:srgbClr val="FCF9F1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Answers Common Enquiries</a:t>
            </a:r>
            <a:endParaRPr/>
          </a:p>
        </p:txBody>
      </p:sp>
      <p:cxnSp>
        <p:nvCxnSpPr>
          <p:cNvPr id="954" name="Google Shape;954;p19"/>
          <p:cNvCxnSpPr/>
          <p:nvPr/>
        </p:nvCxnSpPr>
        <p:spPr>
          <a:xfrm>
            <a:off x="4892040" y="2999232"/>
            <a:ext cx="0" cy="64008"/>
          </a:xfrm>
          <a:prstGeom prst="straightConnector1">
            <a:avLst/>
          </a:prstGeom>
          <a:noFill/>
          <a:ln cap="flat" cmpd="sng" w="1270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5" name="Google Shape;955;p19"/>
          <p:cNvSpPr/>
          <p:nvPr/>
        </p:nvSpPr>
        <p:spPr>
          <a:xfrm>
            <a:off x="3794759" y="3063240"/>
            <a:ext cx="2194560" cy="457200"/>
          </a:xfrm>
          <a:prstGeom prst="roundRect">
            <a:avLst>
              <a:gd fmla="val 18000" name="adj"/>
            </a:avLst>
          </a:prstGeom>
          <a:solidFill>
            <a:srgbClr val="FCF9F1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Books Appointments</a:t>
            </a:r>
            <a:endParaRPr/>
          </a:p>
        </p:txBody>
      </p:sp>
      <p:cxnSp>
        <p:nvCxnSpPr>
          <p:cNvPr id="956" name="Google Shape;956;p19"/>
          <p:cNvCxnSpPr/>
          <p:nvPr/>
        </p:nvCxnSpPr>
        <p:spPr>
          <a:xfrm>
            <a:off x="2514600" y="3520440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7" name="Google Shape;957;p19"/>
          <p:cNvSpPr/>
          <p:nvPr/>
        </p:nvSpPr>
        <p:spPr>
          <a:xfrm>
            <a:off x="1417319" y="3648456"/>
            <a:ext cx="2194560" cy="457200"/>
          </a:xfrm>
          <a:prstGeom prst="roundRect">
            <a:avLst>
              <a:gd fmla="val 18000" name="adj"/>
            </a:avLst>
          </a:prstGeom>
          <a:solidFill>
            <a:srgbClr val="FCF9F1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Reschedules / Cancels</a:t>
            </a:r>
            <a:endParaRPr/>
          </a:p>
        </p:txBody>
      </p:sp>
      <p:cxnSp>
        <p:nvCxnSpPr>
          <p:cNvPr id="958" name="Google Shape;958;p19"/>
          <p:cNvCxnSpPr/>
          <p:nvPr/>
        </p:nvCxnSpPr>
        <p:spPr>
          <a:xfrm>
            <a:off x="4892040" y="3520440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9" name="Google Shape;959;p19"/>
          <p:cNvSpPr/>
          <p:nvPr/>
        </p:nvSpPr>
        <p:spPr>
          <a:xfrm>
            <a:off x="3794759" y="3648456"/>
            <a:ext cx="2194560" cy="457200"/>
          </a:xfrm>
          <a:prstGeom prst="roundRect">
            <a:avLst>
              <a:gd fmla="val 18000" name="adj"/>
            </a:avLst>
          </a:prstGeom>
          <a:solidFill>
            <a:srgbClr val="FCF9F1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Sends Reminders</a:t>
            </a:r>
            <a:endParaRPr/>
          </a:p>
        </p:txBody>
      </p:sp>
      <p:cxnSp>
        <p:nvCxnSpPr>
          <p:cNvPr id="960" name="Google Shape;960;p19"/>
          <p:cNvCxnSpPr/>
          <p:nvPr/>
        </p:nvCxnSpPr>
        <p:spPr>
          <a:xfrm>
            <a:off x="2514600" y="4105656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1" name="Google Shape;961;p19"/>
          <p:cNvSpPr/>
          <p:nvPr/>
        </p:nvSpPr>
        <p:spPr>
          <a:xfrm>
            <a:off x="1417319" y="4233672"/>
            <a:ext cx="2194560" cy="457200"/>
          </a:xfrm>
          <a:prstGeom prst="roundRect">
            <a:avLst>
              <a:gd fmla="val 18000" name="adj"/>
            </a:avLst>
          </a:prstGeom>
          <a:solidFill>
            <a:srgbClr val="FCF9F1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Clinic Information</a:t>
            </a:r>
            <a:endParaRPr/>
          </a:p>
        </p:txBody>
      </p:sp>
      <p:cxnSp>
        <p:nvCxnSpPr>
          <p:cNvPr id="962" name="Google Shape;962;p19"/>
          <p:cNvCxnSpPr/>
          <p:nvPr/>
        </p:nvCxnSpPr>
        <p:spPr>
          <a:xfrm>
            <a:off x="4892040" y="4105656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3" name="Google Shape;963;p19"/>
          <p:cNvSpPr/>
          <p:nvPr/>
        </p:nvSpPr>
        <p:spPr>
          <a:xfrm>
            <a:off x="3794759" y="4233672"/>
            <a:ext cx="2194560" cy="457200"/>
          </a:xfrm>
          <a:prstGeom prst="roundRect">
            <a:avLst>
              <a:gd fmla="val 18000" name="adj"/>
            </a:avLst>
          </a:prstGeom>
          <a:solidFill>
            <a:srgbClr val="FCF9F1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Escalates Complex Cases</a:t>
            </a:r>
            <a:endParaRPr/>
          </a:p>
        </p:txBody>
      </p:sp>
      <p:cxnSp>
        <p:nvCxnSpPr>
          <p:cNvPr id="964" name="Google Shape;964;p19"/>
          <p:cNvCxnSpPr/>
          <p:nvPr/>
        </p:nvCxnSpPr>
        <p:spPr>
          <a:xfrm>
            <a:off x="3703320" y="4690872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6B5F5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65" name="Google Shape;965;p19"/>
          <p:cNvSpPr/>
          <p:nvPr/>
        </p:nvSpPr>
        <p:spPr>
          <a:xfrm>
            <a:off x="1691639" y="4873752"/>
            <a:ext cx="4023360" cy="457200"/>
          </a:xfrm>
          <a:prstGeom prst="roundRect">
            <a:avLst>
              <a:gd fmla="val 14000" name="adj"/>
            </a:avLst>
          </a:prstGeom>
          <a:solidFill>
            <a:srgbClr val="B9822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Patient Management System</a:t>
            </a:r>
            <a:endParaRPr/>
          </a:p>
        </p:txBody>
      </p:sp>
      <p:cxnSp>
        <p:nvCxnSpPr>
          <p:cNvPr id="966" name="Google Shape;966;p19"/>
          <p:cNvCxnSpPr/>
          <p:nvPr/>
        </p:nvCxnSpPr>
        <p:spPr>
          <a:xfrm>
            <a:off x="3703320" y="5330952"/>
            <a:ext cx="0" cy="137160"/>
          </a:xfrm>
          <a:prstGeom prst="straightConnector1">
            <a:avLst/>
          </a:prstGeom>
          <a:noFill/>
          <a:ln cap="flat" cmpd="sng" w="19050">
            <a:solidFill>
              <a:srgbClr val="6B5F5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67" name="Google Shape;967;p19"/>
          <p:cNvSpPr/>
          <p:nvPr/>
        </p:nvSpPr>
        <p:spPr>
          <a:xfrm>
            <a:off x="1691639" y="5468112"/>
            <a:ext cx="4023360" cy="384048"/>
          </a:xfrm>
          <a:prstGeom prst="flowChartTerminator">
            <a:avLst/>
          </a:prstGeom>
          <a:solidFill>
            <a:srgbClr val="B5493A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Reception / Clinical Staff</a:t>
            </a:r>
            <a:endParaRPr/>
          </a:p>
        </p:txBody>
      </p:sp>
      <p:sp>
        <p:nvSpPr>
          <p:cNvPr id="968" name="Google Shape;968;p19"/>
          <p:cNvSpPr txBox="1"/>
          <p:nvPr/>
        </p:nvSpPr>
        <p:spPr>
          <a:xfrm>
            <a:off x="7178040" y="1783080"/>
            <a:ext cx="45079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BENEFITS</a:t>
            </a:r>
            <a:endParaRPr/>
          </a:p>
        </p:txBody>
      </p:sp>
      <p:sp>
        <p:nvSpPr>
          <p:cNvPr id="969" name="Google Shape;969;p19"/>
          <p:cNvSpPr txBox="1"/>
          <p:nvPr/>
        </p:nvSpPr>
        <p:spPr>
          <a:xfrm>
            <a:off x="7178040" y="2121408"/>
            <a:ext cx="450799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2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Available 24/7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2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Reduces receptionist workload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2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Faster patient support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2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Improves appointment management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2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Integrates with existing systems</a:t>
            </a:r>
            <a:endParaRPr/>
          </a:p>
        </p:txBody>
      </p:sp>
      <p:sp>
        <p:nvSpPr>
          <p:cNvPr id="970" name="Google Shape;970;p19"/>
          <p:cNvSpPr/>
          <p:nvPr/>
        </p:nvSpPr>
        <p:spPr>
          <a:xfrm>
            <a:off x="7178040" y="5074920"/>
            <a:ext cx="4507992" cy="1005840"/>
          </a:xfrm>
          <a:prstGeom prst="roundRect">
            <a:avLst>
              <a:gd fmla="val 12000" name="adj"/>
            </a:avLst>
          </a:prstGeom>
          <a:solidFill>
            <a:srgbClr val="FAF3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19"/>
          <p:cNvSpPr txBox="1"/>
          <p:nvPr/>
        </p:nvSpPr>
        <p:spPr>
          <a:xfrm>
            <a:off x="7379208" y="5212080"/>
            <a:ext cx="410565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B549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Presenter cue: </a:t>
            </a:r>
            <a:r>
              <a:rPr b="0" i="1" lang="en-US" sz="9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assistant handles routine administrative tasks so staff can focus on patients requiring personal support.</a:t>
            </a:r>
            <a:endParaRPr/>
          </a:p>
        </p:txBody>
      </p:sp>
      <p:cxnSp>
        <p:nvCxnSpPr>
          <p:cNvPr id="972" name="Google Shape;972;p19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973" name="Google Shape;9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19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975" name="Google Shape;975;p19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Virtual Assistant</a:t>
            </a:r>
            <a:endParaRPr/>
          </a:p>
        </p:txBody>
      </p:sp>
      <p:sp>
        <p:nvSpPr>
          <p:cNvPr id="976" name="Google Shape;976;p19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 / 26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2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0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ICT SOLUTIONS · AI ENGINEERING</a:t>
            </a:r>
            <a:endParaRPr/>
          </a:p>
        </p:txBody>
      </p:sp>
      <p:sp>
        <p:nvSpPr>
          <p:cNvPr id="983" name="Google Shape;983;p20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Engineering Roadmap</a:t>
            </a:r>
            <a:endParaRPr/>
          </a:p>
        </p:txBody>
      </p:sp>
      <p:sp>
        <p:nvSpPr>
          <p:cNvPr id="984" name="Google Shape;984;p20"/>
          <p:cNvSpPr/>
          <p:nvPr/>
        </p:nvSpPr>
        <p:spPr>
          <a:xfrm>
            <a:off x="502920" y="132588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0"/>
          <p:cNvSpPr/>
          <p:nvPr/>
        </p:nvSpPr>
        <p:spPr>
          <a:xfrm>
            <a:off x="576072" y="1737360"/>
            <a:ext cx="365760" cy="365760"/>
          </a:xfrm>
          <a:prstGeom prst="ellipse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986" name="Google Shape;986;p20"/>
          <p:cNvSpPr txBox="1"/>
          <p:nvPr/>
        </p:nvSpPr>
        <p:spPr>
          <a:xfrm>
            <a:off x="1069848" y="1755648"/>
            <a:ext cx="48143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Prototype</a:t>
            </a:r>
            <a:endParaRPr/>
          </a:p>
        </p:txBody>
      </p:sp>
      <p:sp>
        <p:nvSpPr>
          <p:cNvPr id="987" name="Google Shape;987;p20"/>
          <p:cNvSpPr txBox="1"/>
          <p:nvPr/>
        </p:nvSpPr>
        <p:spPr>
          <a:xfrm>
            <a:off x="502920" y="2331720"/>
            <a:ext cx="536295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2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Virtual Patient Assistant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2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Appointment Booking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2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FAQs &amp; Patient Enquiries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2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Appointment Reminders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2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Care Navigation</a:t>
            </a:r>
            <a:endParaRPr/>
          </a:p>
        </p:txBody>
      </p:sp>
      <p:sp>
        <p:nvSpPr>
          <p:cNvPr id="988" name="Google Shape;988;p20"/>
          <p:cNvSpPr/>
          <p:nvPr/>
        </p:nvSpPr>
        <p:spPr>
          <a:xfrm>
            <a:off x="6396227" y="1737360"/>
            <a:ext cx="365760" cy="365760"/>
          </a:xfrm>
          <a:prstGeom prst="ellipse">
            <a:avLst/>
          </a:prstGeom>
          <a:solidFill>
            <a:srgbClr val="B9822A"/>
          </a:solidFill>
          <a:ln>
            <a:noFill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↑</a:t>
            </a:r>
            <a:endParaRPr/>
          </a:p>
        </p:txBody>
      </p:sp>
      <p:sp>
        <p:nvSpPr>
          <p:cNvPr id="989" name="Google Shape;989;p20"/>
          <p:cNvSpPr txBox="1"/>
          <p:nvPr/>
        </p:nvSpPr>
        <p:spPr>
          <a:xfrm>
            <a:off x="6890003" y="1755648"/>
            <a:ext cx="48143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Future Enhancements</a:t>
            </a:r>
            <a:endParaRPr/>
          </a:p>
        </p:txBody>
      </p:sp>
      <p:sp>
        <p:nvSpPr>
          <p:cNvPr id="990" name="Google Shape;990;p20"/>
          <p:cNvSpPr txBox="1"/>
          <p:nvPr/>
        </p:nvSpPr>
        <p:spPr>
          <a:xfrm>
            <a:off x="6323075" y="2331720"/>
            <a:ext cx="536295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 </a:t>
            </a:r>
            <a:r>
              <a:rPr b="0" i="0" lang="en-US" sz="12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Ambient Clinical Scribing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 </a:t>
            </a:r>
            <a:r>
              <a:rPr b="0" i="0" lang="en-US" sz="12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Billing &amp; Coding Assistance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 </a:t>
            </a:r>
            <a:r>
              <a:rPr b="0" i="0" lang="en-US" sz="12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No-show Prediction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 </a:t>
            </a:r>
            <a:r>
              <a:rPr b="0" i="0" lang="en-US" sz="12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Chronic Disease Recall Automation</a:t>
            </a:r>
            <a:endParaRPr/>
          </a:p>
        </p:txBody>
      </p:sp>
      <p:cxnSp>
        <p:nvCxnSpPr>
          <p:cNvPr id="991" name="Google Shape;991;p20"/>
          <p:cNvCxnSpPr/>
          <p:nvPr/>
        </p:nvCxnSpPr>
        <p:spPr>
          <a:xfrm>
            <a:off x="502920" y="4892040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2" name="Google Shape;992;p20"/>
          <p:cNvSpPr/>
          <p:nvPr/>
        </p:nvSpPr>
        <p:spPr>
          <a:xfrm>
            <a:off x="502920" y="5120640"/>
            <a:ext cx="11183111" cy="914400"/>
          </a:xfrm>
          <a:prstGeom prst="roundRect">
            <a:avLst>
              <a:gd fmla="val 12000" name="adj"/>
            </a:avLst>
          </a:prstGeom>
          <a:solidFill>
            <a:srgbClr val="E4F1EE"/>
          </a:solidFill>
          <a:ln cap="flat" cmpd="sng" w="12700">
            <a:solidFill>
              <a:srgbClr val="2F85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0"/>
          <p:cNvSpPr txBox="1"/>
          <p:nvPr/>
        </p:nvSpPr>
        <p:spPr>
          <a:xfrm>
            <a:off x="777240" y="5285232"/>
            <a:ext cx="106344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Responsible AI: </a:t>
            </a:r>
            <a:r>
              <a:rPr b="0" i="0" lang="en-US" sz="11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AI-generated recommendation is reviewed by clinic staff before becoming part of patient records or administrative processes.</a:t>
            </a:r>
            <a:endParaRPr/>
          </a:p>
        </p:txBody>
      </p:sp>
      <p:cxnSp>
        <p:nvCxnSpPr>
          <p:cNvPr id="994" name="Google Shape;994;p20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995" name="Google Shape;9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20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997" name="Google Shape;997;p20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Roadmap</a:t>
            </a:r>
            <a:endParaRPr/>
          </a:p>
        </p:txBody>
      </p:sp>
      <p:sp>
        <p:nvSpPr>
          <p:cNvPr id="998" name="Google Shape;998;p20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 / 26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2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1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UNIQUE VALUE PROPOSITIONS</a:t>
            </a:r>
            <a:endParaRPr/>
          </a:p>
        </p:txBody>
      </p:sp>
      <p:sp>
        <p:nvSpPr>
          <p:cNvPr id="1005" name="Google Shape;1005;p21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Every Recommendation Was Measured Against</a:t>
            </a:r>
            <a:endParaRPr/>
          </a:p>
        </p:txBody>
      </p:sp>
      <p:sp>
        <p:nvSpPr>
          <p:cNvPr id="1006" name="Google Shape;1006;p21"/>
          <p:cNvSpPr/>
          <p:nvPr/>
        </p:nvSpPr>
        <p:spPr>
          <a:xfrm>
            <a:off x="502920" y="132588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1"/>
          <p:cNvSpPr/>
          <p:nvPr/>
        </p:nvSpPr>
        <p:spPr>
          <a:xfrm>
            <a:off x="502920" y="1783080"/>
            <a:ext cx="3575304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21"/>
          <p:cNvSpPr txBox="1"/>
          <p:nvPr/>
        </p:nvSpPr>
        <p:spPr>
          <a:xfrm>
            <a:off x="685800" y="1911095"/>
            <a:ext cx="32095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Client-Focused</a:t>
            </a:r>
            <a:endParaRPr/>
          </a:p>
        </p:txBody>
      </p:sp>
      <p:sp>
        <p:nvSpPr>
          <p:cNvPr id="1009" name="Google Shape;1009;p21"/>
          <p:cNvSpPr txBox="1"/>
          <p:nvPr/>
        </p:nvSpPr>
        <p:spPr>
          <a:xfrm>
            <a:off x="685800" y="2258568"/>
            <a:ext cx="32095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Booking, reminders and recalls designed around the patient experience</a:t>
            </a:r>
            <a:endParaRPr/>
          </a:p>
        </p:txBody>
      </p:sp>
      <p:sp>
        <p:nvSpPr>
          <p:cNvPr id="1010" name="Google Shape;1010;p21"/>
          <p:cNvSpPr/>
          <p:nvPr/>
        </p:nvSpPr>
        <p:spPr>
          <a:xfrm>
            <a:off x="4306824" y="1783080"/>
            <a:ext cx="3575304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1"/>
          <p:cNvSpPr txBox="1"/>
          <p:nvPr/>
        </p:nvSpPr>
        <p:spPr>
          <a:xfrm>
            <a:off x="4489704" y="1911095"/>
            <a:ext cx="32095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Secure</a:t>
            </a:r>
            <a:endParaRPr/>
          </a:p>
        </p:txBody>
      </p:sp>
      <p:sp>
        <p:nvSpPr>
          <p:cNvPr id="1012" name="Google Shape;1012;p21"/>
          <p:cNvSpPr txBox="1"/>
          <p:nvPr/>
        </p:nvSpPr>
        <p:spPr>
          <a:xfrm>
            <a:off x="4489704" y="2258568"/>
            <a:ext cx="32095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Role-based access, encryption and 3-2-1 backup by design</a:t>
            </a:r>
            <a:endParaRPr/>
          </a:p>
        </p:txBody>
      </p:sp>
      <p:sp>
        <p:nvSpPr>
          <p:cNvPr id="1013" name="Google Shape;1013;p21"/>
          <p:cNvSpPr/>
          <p:nvPr/>
        </p:nvSpPr>
        <p:spPr>
          <a:xfrm>
            <a:off x="8110728" y="1783080"/>
            <a:ext cx="3575304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21"/>
          <p:cNvSpPr txBox="1"/>
          <p:nvPr/>
        </p:nvSpPr>
        <p:spPr>
          <a:xfrm>
            <a:off x="8293608" y="1911095"/>
            <a:ext cx="32095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Productive</a:t>
            </a:r>
            <a:endParaRPr/>
          </a:p>
        </p:txBody>
      </p:sp>
      <p:sp>
        <p:nvSpPr>
          <p:cNvPr id="1015" name="Google Shape;1015;p21"/>
          <p:cNvSpPr txBox="1"/>
          <p:nvPr/>
        </p:nvSpPr>
        <p:spPr>
          <a:xfrm>
            <a:off x="8293608" y="2258568"/>
            <a:ext cx="32095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Automation removes duplicate admin work across systems</a:t>
            </a:r>
            <a:endParaRPr/>
          </a:p>
        </p:txBody>
      </p:sp>
      <p:sp>
        <p:nvSpPr>
          <p:cNvPr id="1016" name="Google Shape;1016;p21"/>
          <p:cNvSpPr/>
          <p:nvPr/>
        </p:nvSpPr>
        <p:spPr>
          <a:xfrm>
            <a:off x="502920" y="3383280"/>
            <a:ext cx="3575304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1"/>
          <p:cNvSpPr txBox="1"/>
          <p:nvPr/>
        </p:nvSpPr>
        <p:spPr>
          <a:xfrm>
            <a:off x="685800" y="3511296"/>
            <a:ext cx="32095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AAF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Reliable</a:t>
            </a:r>
            <a:endParaRPr/>
          </a:p>
        </p:txBody>
      </p:sp>
      <p:sp>
        <p:nvSpPr>
          <p:cNvPr id="1018" name="Google Shape;1018;p21"/>
          <p:cNvSpPr txBox="1"/>
          <p:nvPr/>
        </p:nvSpPr>
        <p:spPr>
          <a:xfrm>
            <a:off x="685800" y="3858768"/>
            <a:ext cx="32095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Segmented, monitored network with redundant backup</a:t>
            </a:r>
            <a:endParaRPr/>
          </a:p>
        </p:txBody>
      </p:sp>
      <p:sp>
        <p:nvSpPr>
          <p:cNvPr id="1019" name="Google Shape;1019;p21"/>
          <p:cNvSpPr/>
          <p:nvPr/>
        </p:nvSpPr>
        <p:spPr>
          <a:xfrm>
            <a:off x="4306824" y="3383280"/>
            <a:ext cx="3575304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21"/>
          <p:cNvSpPr txBox="1"/>
          <p:nvPr/>
        </p:nvSpPr>
        <p:spPr>
          <a:xfrm>
            <a:off x="4489704" y="3511296"/>
            <a:ext cx="32095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549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Integrated</a:t>
            </a:r>
            <a:endParaRPr/>
          </a:p>
        </p:txBody>
      </p:sp>
      <p:sp>
        <p:nvSpPr>
          <p:cNvPr id="1021" name="Google Shape;1021;p21"/>
          <p:cNvSpPr txBox="1"/>
          <p:nvPr/>
        </p:nvSpPr>
        <p:spPr>
          <a:xfrm>
            <a:off x="4489704" y="3858768"/>
            <a:ext cx="32095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data model behind every system — no duplicate entry</a:t>
            </a:r>
            <a:endParaRPr/>
          </a:p>
        </p:txBody>
      </p:sp>
      <p:sp>
        <p:nvSpPr>
          <p:cNvPr id="1022" name="Google Shape;1022;p21"/>
          <p:cNvSpPr/>
          <p:nvPr/>
        </p:nvSpPr>
        <p:spPr>
          <a:xfrm>
            <a:off x="8110728" y="3383280"/>
            <a:ext cx="3575304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21"/>
          <p:cNvSpPr txBox="1"/>
          <p:nvPr/>
        </p:nvSpPr>
        <p:spPr>
          <a:xfrm>
            <a:off x="8293608" y="3511296"/>
            <a:ext cx="32095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Compliant</a:t>
            </a:r>
            <a:endParaRPr/>
          </a:p>
        </p:txBody>
      </p:sp>
      <p:sp>
        <p:nvSpPr>
          <p:cNvPr id="1024" name="Google Shape;1024;p21"/>
          <p:cNvSpPr txBox="1"/>
          <p:nvPr/>
        </p:nvSpPr>
        <p:spPr>
          <a:xfrm>
            <a:off x="8293608" y="3858768"/>
            <a:ext cx="320954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Meets Notifiable Data Breaches and health record retention obligations</a:t>
            </a:r>
            <a:endParaRPr/>
          </a:p>
        </p:txBody>
      </p:sp>
      <p:cxnSp>
        <p:nvCxnSpPr>
          <p:cNvPr id="1025" name="Google Shape;1025;p21"/>
          <p:cNvCxnSpPr/>
          <p:nvPr/>
        </p:nvCxnSpPr>
        <p:spPr>
          <a:xfrm>
            <a:off x="502920" y="5120640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6" name="Google Shape;1026;p21"/>
          <p:cNvSpPr txBox="1"/>
          <p:nvPr/>
        </p:nvSpPr>
        <p:spPr>
          <a:xfrm>
            <a:off x="502920" y="5257800"/>
            <a:ext cx="35448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Competitive Advantage</a:t>
            </a:r>
            <a:endParaRPr/>
          </a:p>
        </p:txBody>
      </p:sp>
      <p:sp>
        <p:nvSpPr>
          <p:cNvPr id="1027" name="Google Shape;1027;p21"/>
          <p:cNvSpPr txBox="1"/>
          <p:nvPr/>
        </p:nvSpPr>
        <p:spPr>
          <a:xfrm>
            <a:off x="502920" y="5541264"/>
            <a:ext cx="35448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point of contact for IT and accounting — no separate vendors working in isolation.</a:t>
            </a:r>
            <a:endParaRPr/>
          </a:p>
        </p:txBody>
      </p:sp>
      <p:sp>
        <p:nvSpPr>
          <p:cNvPr id="1028" name="Google Shape;1028;p21"/>
          <p:cNvSpPr txBox="1"/>
          <p:nvPr/>
        </p:nvSpPr>
        <p:spPr>
          <a:xfrm>
            <a:off x="4322064" y="5257800"/>
            <a:ext cx="35448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Qualifications</a:t>
            </a:r>
            <a:endParaRPr/>
          </a:p>
        </p:txBody>
      </p:sp>
      <p:sp>
        <p:nvSpPr>
          <p:cNvPr id="1029" name="Google Shape;1029;p21"/>
          <p:cNvSpPr txBox="1"/>
          <p:nvPr/>
        </p:nvSpPr>
        <p:spPr>
          <a:xfrm>
            <a:off x="4322064" y="5541264"/>
            <a:ext cx="35448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&amp; cloud security certifications, plus CPA-qualified accounting staff.</a:t>
            </a:r>
            <a:endParaRPr/>
          </a:p>
        </p:txBody>
      </p:sp>
      <p:sp>
        <p:nvSpPr>
          <p:cNvPr id="1030" name="Google Shape;1030;p21"/>
          <p:cNvSpPr txBox="1"/>
          <p:nvPr/>
        </p:nvSpPr>
        <p:spPr>
          <a:xfrm>
            <a:off x="8141208" y="5257800"/>
            <a:ext cx="35448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Track Record</a:t>
            </a:r>
            <a:endParaRPr/>
          </a:p>
        </p:txBody>
      </p:sp>
      <p:sp>
        <p:nvSpPr>
          <p:cNvPr id="1031" name="Google Shape;1031;p21"/>
          <p:cNvSpPr txBox="1"/>
          <p:nvPr/>
        </p:nvSpPr>
        <p:spPr>
          <a:xfrm>
            <a:off x="8141208" y="5541264"/>
            <a:ext cx="35448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Reduced non-attendance and consolidated reporting in comparable practice transitions.</a:t>
            </a:r>
            <a:endParaRPr/>
          </a:p>
        </p:txBody>
      </p:sp>
      <p:cxnSp>
        <p:nvCxnSpPr>
          <p:cNvPr id="1032" name="Google Shape;1032;p21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1033" name="Google Shape;10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21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1035" name="Google Shape;1035;p21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Unique Value Propositions</a:t>
            </a:r>
            <a:endParaRPr/>
          </a:p>
        </p:txBody>
      </p:sp>
      <p:sp>
        <p:nvSpPr>
          <p:cNvPr id="1036" name="Google Shape;1036;p21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 / 26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2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22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SUPPORTING DETAIL</a:t>
            </a:r>
            <a:endParaRPr/>
          </a:p>
        </p:txBody>
      </p:sp>
      <p:sp>
        <p:nvSpPr>
          <p:cNvPr id="1043" name="Google Shape;1043;p22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Accounting Modernisation</a:t>
            </a:r>
            <a:endParaRPr/>
          </a:p>
        </p:txBody>
      </p:sp>
      <p:sp>
        <p:nvSpPr>
          <p:cNvPr id="1044" name="Google Shape;1044;p22"/>
          <p:cNvSpPr/>
          <p:nvPr/>
        </p:nvSpPr>
        <p:spPr>
          <a:xfrm>
            <a:off x="502920" y="132588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22"/>
          <p:cNvSpPr/>
          <p:nvPr/>
        </p:nvSpPr>
        <p:spPr>
          <a:xfrm>
            <a:off x="609447" y="1965960"/>
            <a:ext cx="3108960" cy="914400"/>
          </a:xfrm>
          <a:prstGeom prst="roundRect">
            <a:avLst>
              <a:gd fmla="val 16000" name="adj"/>
            </a:avLst>
          </a:prstGeom>
          <a:solidFill>
            <a:srgbClr val="3AAFA9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Bank Feeds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(Direct Connection)</a:t>
            </a:r>
            <a:endParaRPr/>
          </a:p>
        </p:txBody>
      </p:sp>
      <p:cxnSp>
        <p:nvCxnSpPr>
          <p:cNvPr id="1046" name="Google Shape;1046;p22"/>
          <p:cNvCxnSpPr/>
          <p:nvPr/>
        </p:nvCxnSpPr>
        <p:spPr>
          <a:xfrm>
            <a:off x="3718407" y="2423160"/>
            <a:ext cx="822960" cy="0"/>
          </a:xfrm>
          <a:prstGeom prst="straightConnector1">
            <a:avLst/>
          </a:prstGeom>
          <a:noFill/>
          <a:ln cap="flat" cmpd="sng" w="19050">
            <a:solidFill>
              <a:srgbClr val="6B5F5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47" name="Google Shape;1047;p22"/>
          <p:cNvSpPr/>
          <p:nvPr/>
        </p:nvSpPr>
        <p:spPr>
          <a:xfrm>
            <a:off x="4541367" y="1965960"/>
            <a:ext cx="3108960" cy="914400"/>
          </a:xfrm>
          <a:prstGeom prst="roundRect">
            <a:avLst>
              <a:gd fmla="val 16000" name="adj"/>
            </a:avLst>
          </a:prstGeom>
          <a:solidFill>
            <a:srgbClr val="2F8577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Xero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(Central Ledger)</a:t>
            </a:r>
            <a:endParaRPr/>
          </a:p>
        </p:txBody>
      </p:sp>
      <p:cxnSp>
        <p:nvCxnSpPr>
          <p:cNvPr id="1048" name="Google Shape;1048;p22"/>
          <p:cNvCxnSpPr/>
          <p:nvPr/>
        </p:nvCxnSpPr>
        <p:spPr>
          <a:xfrm>
            <a:off x="7650327" y="2423160"/>
            <a:ext cx="822960" cy="0"/>
          </a:xfrm>
          <a:prstGeom prst="straightConnector1">
            <a:avLst/>
          </a:prstGeom>
          <a:noFill/>
          <a:ln cap="flat" cmpd="sng" w="19050">
            <a:solidFill>
              <a:srgbClr val="6B5F5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49" name="Google Shape;1049;p22"/>
          <p:cNvSpPr/>
          <p:nvPr/>
        </p:nvSpPr>
        <p:spPr>
          <a:xfrm>
            <a:off x="8473287" y="1965960"/>
            <a:ext cx="3108960" cy="914400"/>
          </a:xfrm>
          <a:prstGeom prst="roundRect">
            <a:avLst>
              <a:gd fmla="val 16000" name="adj"/>
            </a:avLst>
          </a:prstGeom>
          <a:solidFill>
            <a:srgbClr val="3AAFA9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Monthly Reconciliation</a:t>
            </a:r>
            <a:endParaRPr/>
          </a:p>
          <a:p>
            <a:pPr indent="0" lvl="0" marL="0" marR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(by ABC Partners)</a:t>
            </a:r>
            <a:endParaRPr/>
          </a:p>
        </p:txBody>
      </p:sp>
      <p:cxnSp>
        <p:nvCxnSpPr>
          <p:cNvPr id="1050" name="Google Shape;1050;p22"/>
          <p:cNvCxnSpPr/>
          <p:nvPr/>
        </p:nvCxnSpPr>
        <p:spPr>
          <a:xfrm>
            <a:off x="914400" y="3383280"/>
            <a:ext cx="10360152" cy="0"/>
          </a:xfrm>
          <a:prstGeom prst="straightConnector1">
            <a:avLst/>
          </a:prstGeom>
          <a:noFill/>
          <a:ln cap="flat" cmpd="sng" w="12700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1" name="Google Shape;1051;p22"/>
          <p:cNvSpPr/>
          <p:nvPr/>
        </p:nvSpPr>
        <p:spPr>
          <a:xfrm>
            <a:off x="502920" y="3657600"/>
            <a:ext cx="3383280" cy="2286000"/>
          </a:xfrm>
          <a:prstGeom prst="roundRect">
            <a:avLst>
              <a:gd fmla="val 6000" name="adj"/>
            </a:avLst>
          </a:prstGeom>
          <a:solidFill>
            <a:srgbClr val="FCF9F1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2"/>
          <p:cNvSpPr txBox="1"/>
          <p:nvPr/>
        </p:nvSpPr>
        <p:spPr>
          <a:xfrm>
            <a:off x="685800" y="3803904"/>
            <a:ext cx="3017520" cy="2002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Single Current View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Billing data exported from Best Practice feeds into Xero — no duplicate entry between clinical and financial records.</a:t>
            </a:r>
            <a:endParaRPr/>
          </a:p>
        </p:txBody>
      </p:sp>
      <p:sp>
        <p:nvSpPr>
          <p:cNvPr id="1053" name="Google Shape;1053;p22"/>
          <p:cNvSpPr/>
          <p:nvPr/>
        </p:nvSpPr>
        <p:spPr>
          <a:xfrm>
            <a:off x="4251960" y="3657600"/>
            <a:ext cx="3383280" cy="2286000"/>
          </a:xfrm>
          <a:prstGeom prst="roundRect">
            <a:avLst>
              <a:gd fmla="val 6000" name="adj"/>
            </a:avLst>
          </a:prstGeom>
          <a:solidFill>
            <a:srgbClr val="FCF9F1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22"/>
          <p:cNvSpPr txBox="1"/>
          <p:nvPr/>
        </p:nvSpPr>
        <p:spPr>
          <a:xfrm>
            <a:off x="4434840" y="3803904"/>
            <a:ext cx="3017520" cy="2002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Managed Reconciliation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runs the monthly reconciliation routine, not practice staff.</a:t>
            </a:r>
            <a:endParaRPr/>
          </a:p>
        </p:txBody>
      </p:sp>
      <p:sp>
        <p:nvSpPr>
          <p:cNvPr id="1055" name="Google Shape;1055;p22"/>
          <p:cNvSpPr/>
          <p:nvPr/>
        </p:nvSpPr>
        <p:spPr>
          <a:xfrm>
            <a:off x="8001000" y="3657600"/>
            <a:ext cx="3383280" cy="2286000"/>
          </a:xfrm>
          <a:prstGeom prst="roundRect">
            <a:avLst>
              <a:gd fmla="val 6000" name="adj"/>
            </a:avLst>
          </a:prstGeom>
          <a:solidFill>
            <a:srgbClr val="FCF9F1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22"/>
          <p:cNvSpPr txBox="1"/>
          <p:nvPr/>
        </p:nvSpPr>
        <p:spPr>
          <a:xfrm>
            <a:off x="8183880" y="3803904"/>
            <a:ext cx="3017520" cy="2002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Reconciliation Target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Monthly reconciliation completed within 2 business days of month-end (service commitment).</a:t>
            </a:r>
            <a:endParaRPr/>
          </a:p>
        </p:txBody>
      </p:sp>
      <p:cxnSp>
        <p:nvCxnSpPr>
          <p:cNvPr id="1057" name="Google Shape;1057;p22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1058" name="Google Shape;105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22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1060" name="Google Shape;1060;p22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Accounting</a:t>
            </a:r>
            <a:endParaRPr/>
          </a:p>
        </p:txBody>
      </p:sp>
      <p:sp>
        <p:nvSpPr>
          <p:cNvPr id="1061" name="Google Shape;1061;p22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 / 26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2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23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MANAGEMENT</a:t>
            </a:r>
            <a:endParaRPr/>
          </a:p>
        </p:txBody>
      </p:sp>
      <p:sp>
        <p:nvSpPr>
          <p:cNvPr id="1068" name="Google Shape;1068;p23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Timeline &amp; Procurement</a:t>
            </a:r>
            <a:endParaRPr/>
          </a:p>
        </p:txBody>
      </p:sp>
      <p:sp>
        <p:nvSpPr>
          <p:cNvPr id="1069" name="Google Shape;1069;p23"/>
          <p:cNvSpPr txBox="1"/>
          <p:nvPr/>
        </p:nvSpPr>
        <p:spPr>
          <a:xfrm>
            <a:off x="502920" y="13258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12-week program — 3 months to go-live</a:t>
            </a:r>
            <a:endParaRPr/>
          </a:p>
        </p:txBody>
      </p:sp>
      <p:sp>
        <p:nvSpPr>
          <p:cNvPr id="1070" name="Google Shape;1070;p23"/>
          <p:cNvSpPr/>
          <p:nvPr/>
        </p:nvSpPr>
        <p:spPr>
          <a:xfrm>
            <a:off x="502920" y="169164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3"/>
          <p:cNvSpPr/>
          <p:nvPr/>
        </p:nvSpPr>
        <p:spPr>
          <a:xfrm>
            <a:off x="3474720" y="2331720"/>
            <a:ext cx="2737103" cy="352044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23"/>
          <p:cNvSpPr txBox="1"/>
          <p:nvPr/>
        </p:nvSpPr>
        <p:spPr>
          <a:xfrm>
            <a:off x="3474720" y="1828800"/>
            <a:ext cx="273710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 1</a:t>
            </a:r>
            <a:endParaRPr/>
          </a:p>
        </p:txBody>
      </p:sp>
      <p:sp>
        <p:nvSpPr>
          <p:cNvPr id="1073" name="Google Shape;1073;p23"/>
          <p:cNvSpPr/>
          <p:nvPr/>
        </p:nvSpPr>
        <p:spPr>
          <a:xfrm>
            <a:off x="6211824" y="2331720"/>
            <a:ext cx="2737103" cy="3520440"/>
          </a:xfrm>
          <a:prstGeom prst="roundRect">
            <a:avLst>
              <a:gd fmla="val 0" name="adj"/>
            </a:avLst>
          </a:prstGeom>
          <a:solidFill>
            <a:srgbClr val="FCF9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23"/>
          <p:cNvSpPr txBox="1"/>
          <p:nvPr/>
        </p:nvSpPr>
        <p:spPr>
          <a:xfrm>
            <a:off x="6211824" y="1828800"/>
            <a:ext cx="273710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 2</a:t>
            </a:r>
            <a:endParaRPr/>
          </a:p>
        </p:txBody>
      </p:sp>
      <p:sp>
        <p:nvSpPr>
          <p:cNvPr id="1075" name="Google Shape;1075;p23"/>
          <p:cNvSpPr/>
          <p:nvPr/>
        </p:nvSpPr>
        <p:spPr>
          <a:xfrm>
            <a:off x="8948927" y="2331720"/>
            <a:ext cx="2737103" cy="352044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23"/>
          <p:cNvSpPr txBox="1"/>
          <p:nvPr/>
        </p:nvSpPr>
        <p:spPr>
          <a:xfrm>
            <a:off x="8948927" y="1828800"/>
            <a:ext cx="273710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 3</a:t>
            </a:r>
            <a:endParaRPr/>
          </a:p>
        </p:txBody>
      </p:sp>
      <p:cxnSp>
        <p:nvCxnSpPr>
          <p:cNvPr id="1077" name="Google Shape;1077;p23"/>
          <p:cNvCxnSpPr/>
          <p:nvPr/>
        </p:nvCxnSpPr>
        <p:spPr>
          <a:xfrm>
            <a:off x="3474720" y="2331720"/>
            <a:ext cx="0" cy="352044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8" name="Google Shape;1078;p23"/>
          <p:cNvCxnSpPr/>
          <p:nvPr/>
        </p:nvCxnSpPr>
        <p:spPr>
          <a:xfrm>
            <a:off x="4158996" y="2331720"/>
            <a:ext cx="0" cy="352044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9" name="Google Shape;1079;p23"/>
          <p:cNvCxnSpPr/>
          <p:nvPr/>
        </p:nvCxnSpPr>
        <p:spPr>
          <a:xfrm>
            <a:off x="4843272" y="2331720"/>
            <a:ext cx="0" cy="352044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0" name="Google Shape;1080;p23"/>
          <p:cNvCxnSpPr/>
          <p:nvPr/>
        </p:nvCxnSpPr>
        <p:spPr>
          <a:xfrm>
            <a:off x="5527548" y="2331720"/>
            <a:ext cx="0" cy="352044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1" name="Google Shape;1081;p23"/>
          <p:cNvCxnSpPr/>
          <p:nvPr/>
        </p:nvCxnSpPr>
        <p:spPr>
          <a:xfrm>
            <a:off x="6211824" y="2331720"/>
            <a:ext cx="0" cy="352044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2" name="Google Shape;1082;p23"/>
          <p:cNvCxnSpPr/>
          <p:nvPr/>
        </p:nvCxnSpPr>
        <p:spPr>
          <a:xfrm>
            <a:off x="6896099" y="2331720"/>
            <a:ext cx="0" cy="352044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3" name="Google Shape;1083;p23"/>
          <p:cNvCxnSpPr/>
          <p:nvPr/>
        </p:nvCxnSpPr>
        <p:spPr>
          <a:xfrm>
            <a:off x="7580375" y="2331720"/>
            <a:ext cx="0" cy="352044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4" name="Google Shape;1084;p23"/>
          <p:cNvCxnSpPr/>
          <p:nvPr/>
        </p:nvCxnSpPr>
        <p:spPr>
          <a:xfrm>
            <a:off x="8264651" y="2331720"/>
            <a:ext cx="0" cy="352044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5" name="Google Shape;1085;p23"/>
          <p:cNvCxnSpPr/>
          <p:nvPr/>
        </p:nvCxnSpPr>
        <p:spPr>
          <a:xfrm>
            <a:off x="8948927" y="2331720"/>
            <a:ext cx="0" cy="352044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6" name="Google Shape;1086;p23"/>
          <p:cNvCxnSpPr/>
          <p:nvPr/>
        </p:nvCxnSpPr>
        <p:spPr>
          <a:xfrm>
            <a:off x="9633203" y="2331720"/>
            <a:ext cx="0" cy="352044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7" name="Google Shape;1087;p23"/>
          <p:cNvCxnSpPr/>
          <p:nvPr/>
        </p:nvCxnSpPr>
        <p:spPr>
          <a:xfrm>
            <a:off x="10317479" y="2331720"/>
            <a:ext cx="0" cy="352044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8" name="Google Shape;1088;p23"/>
          <p:cNvCxnSpPr/>
          <p:nvPr/>
        </p:nvCxnSpPr>
        <p:spPr>
          <a:xfrm>
            <a:off x="11001756" y="2331720"/>
            <a:ext cx="0" cy="352044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9" name="Google Shape;1089;p23"/>
          <p:cNvCxnSpPr/>
          <p:nvPr/>
        </p:nvCxnSpPr>
        <p:spPr>
          <a:xfrm>
            <a:off x="11686032" y="2331720"/>
            <a:ext cx="0" cy="3520440"/>
          </a:xfrm>
          <a:prstGeom prst="straightConnector1">
            <a:avLst/>
          </a:prstGeom>
          <a:noFill/>
          <a:ln cap="flat" cmpd="sng" w="9525">
            <a:solidFill>
              <a:srgbClr val="EFE9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0" name="Google Shape;1090;p23"/>
          <p:cNvSpPr txBox="1"/>
          <p:nvPr/>
        </p:nvSpPr>
        <p:spPr>
          <a:xfrm>
            <a:off x="3474720" y="2103120"/>
            <a:ext cx="68427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W1</a:t>
            </a:r>
            <a:endParaRPr/>
          </a:p>
        </p:txBody>
      </p:sp>
      <p:sp>
        <p:nvSpPr>
          <p:cNvPr id="1091" name="Google Shape;1091;p23"/>
          <p:cNvSpPr txBox="1"/>
          <p:nvPr/>
        </p:nvSpPr>
        <p:spPr>
          <a:xfrm>
            <a:off x="4158996" y="2103120"/>
            <a:ext cx="68427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W2</a:t>
            </a:r>
            <a:endParaRPr/>
          </a:p>
        </p:txBody>
      </p:sp>
      <p:sp>
        <p:nvSpPr>
          <p:cNvPr id="1092" name="Google Shape;1092;p23"/>
          <p:cNvSpPr txBox="1"/>
          <p:nvPr/>
        </p:nvSpPr>
        <p:spPr>
          <a:xfrm>
            <a:off x="4843272" y="2103120"/>
            <a:ext cx="68427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W3</a:t>
            </a:r>
            <a:endParaRPr/>
          </a:p>
        </p:txBody>
      </p:sp>
      <p:sp>
        <p:nvSpPr>
          <p:cNvPr id="1093" name="Google Shape;1093;p23"/>
          <p:cNvSpPr txBox="1"/>
          <p:nvPr/>
        </p:nvSpPr>
        <p:spPr>
          <a:xfrm>
            <a:off x="5527548" y="2103120"/>
            <a:ext cx="68427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W4</a:t>
            </a:r>
            <a:endParaRPr/>
          </a:p>
        </p:txBody>
      </p:sp>
      <p:sp>
        <p:nvSpPr>
          <p:cNvPr id="1094" name="Google Shape;1094;p23"/>
          <p:cNvSpPr txBox="1"/>
          <p:nvPr/>
        </p:nvSpPr>
        <p:spPr>
          <a:xfrm>
            <a:off x="6211824" y="2103120"/>
            <a:ext cx="68427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W5</a:t>
            </a:r>
            <a:endParaRPr/>
          </a:p>
        </p:txBody>
      </p:sp>
      <p:sp>
        <p:nvSpPr>
          <p:cNvPr id="1095" name="Google Shape;1095;p23"/>
          <p:cNvSpPr txBox="1"/>
          <p:nvPr/>
        </p:nvSpPr>
        <p:spPr>
          <a:xfrm>
            <a:off x="6896099" y="2103120"/>
            <a:ext cx="68427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W6</a:t>
            </a:r>
            <a:endParaRPr/>
          </a:p>
        </p:txBody>
      </p:sp>
      <p:sp>
        <p:nvSpPr>
          <p:cNvPr id="1096" name="Google Shape;1096;p23"/>
          <p:cNvSpPr txBox="1"/>
          <p:nvPr/>
        </p:nvSpPr>
        <p:spPr>
          <a:xfrm>
            <a:off x="7580375" y="2103120"/>
            <a:ext cx="68427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W7</a:t>
            </a:r>
            <a:endParaRPr/>
          </a:p>
        </p:txBody>
      </p:sp>
      <p:sp>
        <p:nvSpPr>
          <p:cNvPr id="1097" name="Google Shape;1097;p23"/>
          <p:cNvSpPr txBox="1"/>
          <p:nvPr/>
        </p:nvSpPr>
        <p:spPr>
          <a:xfrm>
            <a:off x="8264651" y="2103120"/>
            <a:ext cx="68427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W8</a:t>
            </a:r>
            <a:endParaRPr/>
          </a:p>
        </p:txBody>
      </p:sp>
      <p:sp>
        <p:nvSpPr>
          <p:cNvPr id="1098" name="Google Shape;1098;p23"/>
          <p:cNvSpPr txBox="1"/>
          <p:nvPr/>
        </p:nvSpPr>
        <p:spPr>
          <a:xfrm>
            <a:off x="8948927" y="2103120"/>
            <a:ext cx="68427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W9</a:t>
            </a:r>
            <a:endParaRPr/>
          </a:p>
        </p:txBody>
      </p:sp>
      <p:sp>
        <p:nvSpPr>
          <p:cNvPr id="1099" name="Google Shape;1099;p23"/>
          <p:cNvSpPr txBox="1"/>
          <p:nvPr/>
        </p:nvSpPr>
        <p:spPr>
          <a:xfrm>
            <a:off x="9633203" y="2103120"/>
            <a:ext cx="68427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W10</a:t>
            </a:r>
            <a:endParaRPr/>
          </a:p>
        </p:txBody>
      </p:sp>
      <p:sp>
        <p:nvSpPr>
          <p:cNvPr id="1100" name="Google Shape;1100;p23"/>
          <p:cNvSpPr txBox="1"/>
          <p:nvPr/>
        </p:nvSpPr>
        <p:spPr>
          <a:xfrm>
            <a:off x="10317479" y="2103120"/>
            <a:ext cx="68427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W11</a:t>
            </a:r>
            <a:endParaRPr/>
          </a:p>
        </p:txBody>
      </p:sp>
      <p:sp>
        <p:nvSpPr>
          <p:cNvPr id="1101" name="Google Shape;1101;p23"/>
          <p:cNvSpPr txBox="1"/>
          <p:nvPr/>
        </p:nvSpPr>
        <p:spPr>
          <a:xfrm>
            <a:off x="11001756" y="2103120"/>
            <a:ext cx="68427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W12</a:t>
            </a:r>
            <a:endParaRPr/>
          </a:p>
        </p:txBody>
      </p:sp>
      <p:sp>
        <p:nvSpPr>
          <p:cNvPr id="1102" name="Google Shape;1102;p23"/>
          <p:cNvSpPr txBox="1"/>
          <p:nvPr/>
        </p:nvSpPr>
        <p:spPr>
          <a:xfrm>
            <a:off x="502920" y="242316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Procurement — hardware &amp; licensing</a:t>
            </a:r>
            <a:endParaRPr/>
          </a:p>
        </p:txBody>
      </p:sp>
      <p:sp>
        <p:nvSpPr>
          <p:cNvPr id="1103" name="Google Shape;1103;p23"/>
          <p:cNvSpPr/>
          <p:nvPr/>
        </p:nvSpPr>
        <p:spPr>
          <a:xfrm>
            <a:off x="3493008" y="2459736"/>
            <a:ext cx="1331975" cy="246887"/>
          </a:xfrm>
          <a:prstGeom prst="roundRect">
            <a:avLst>
              <a:gd fmla="val 35000" name="adj"/>
            </a:avLst>
          </a:prstGeom>
          <a:solidFill>
            <a:srgbClr val="3AAFA9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W1–W2</a:t>
            </a:r>
            <a:endParaRPr/>
          </a:p>
        </p:txBody>
      </p:sp>
      <p:sp>
        <p:nvSpPr>
          <p:cNvPr id="1104" name="Google Shape;1104;p23"/>
          <p:cNvSpPr txBox="1"/>
          <p:nvPr/>
        </p:nvSpPr>
        <p:spPr>
          <a:xfrm>
            <a:off x="502920" y="278892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install &amp; configuration</a:t>
            </a:r>
            <a:endParaRPr/>
          </a:p>
        </p:txBody>
      </p:sp>
      <p:sp>
        <p:nvSpPr>
          <p:cNvPr id="1105" name="Google Shape;1105;p23"/>
          <p:cNvSpPr/>
          <p:nvPr/>
        </p:nvSpPr>
        <p:spPr>
          <a:xfrm>
            <a:off x="4177284" y="2825496"/>
            <a:ext cx="2016251" cy="246887"/>
          </a:xfrm>
          <a:prstGeom prst="roundRect">
            <a:avLst>
              <a:gd fmla="val 35000" name="adj"/>
            </a:avLst>
          </a:prstGeom>
          <a:solidFill>
            <a:srgbClr val="2F8577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W2–W4</a:t>
            </a:r>
            <a:endParaRPr/>
          </a:p>
        </p:txBody>
      </p:sp>
      <p:sp>
        <p:nvSpPr>
          <p:cNvPr id="1106" name="Google Shape;1106;p23"/>
          <p:cNvSpPr txBox="1"/>
          <p:nvPr/>
        </p:nvSpPr>
        <p:spPr>
          <a:xfrm>
            <a:off x="502920" y="3154679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testing &amp; handover</a:t>
            </a:r>
            <a:endParaRPr/>
          </a:p>
        </p:txBody>
      </p:sp>
      <p:sp>
        <p:nvSpPr>
          <p:cNvPr id="1107" name="Google Shape;1107;p23"/>
          <p:cNvSpPr/>
          <p:nvPr/>
        </p:nvSpPr>
        <p:spPr>
          <a:xfrm>
            <a:off x="5545836" y="3191256"/>
            <a:ext cx="647699" cy="246887"/>
          </a:xfrm>
          <a:prstGeom prst="roundRect">
            <a:avLst>
              <a:gd fmla="val 35000" name="adj"/>
            </a:avLst>
          </a:prstGeom>
          <a:solidFill>
            <a:srgbClr val="3AAFA9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W4</a:t>
            </a:r>
            <a:endParaRPr/>
          </a:p>
        </p:txBody>
      </p:sp>
      <p:sp>
        <p:nvSpPr>
          <p:cNvPr id="1108" name="Google Shape;1108;p23"/>
          <p:cNvSpPr txBox="1"/>
          <p:nvPr/>
        </p:nvSpPr>
        <p:spPr>
          <a:xfrm>
            <a:off x="502920" y="3520439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Bp Premier + HotDoc setup &amp; config</a:t>
            </a:r>
            <a:endParaRPr/>
          </a:p>
        </p:txBody>
      </p:sp>
      <p:sp>
        <p:nvSpPr>
          <p:cNvPr id="1109" name="Google Shape;1109;p23"/>
          <p:cNvSpPr/>
          <p:nvPr/>
        </p:nvSpPr>
        <p:spPr>
          <a:xfrm>
            <a:off x="5545836" y="3557015"/>
            <a:ext cx="2016251" cy="246887"/>
          </a:xfrm>
          <a:prstGeom prst="roundRect">
            <a:avLst>
              <a:gd fmla="val 35000" name="adj"/>
            </a:avLst>
          </a:prstGeom>
          <a:solidFill>
            <a:srgbClr val="D9754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W4–W6</a:t>
            </a:r>
            <a:endParaRPr/>
          </a:p>
        </p:txBody>
      </p:sp>
      <p:sp>
        <p:nvSpPr>
          <p:cNvPr id="1110" name="Google Shape;1110;p23"/>
          <p:cNvSpPr txBox="1"/>
          <p:nvPr/>
        </p:nvSpPr>
        <p:spPr>
          <a:xfrm>
            <a:off x="502920" y="388620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Parallel run (old + new PMS)</a:t>
            </a:r>
            <a:endParaRPr/>
          </a:p>
        </p:txBody>
      </p:sp>
      <p:sp>
        <p:nvSpPr>
          <p:cNvPr id="1111" name="Google Shape;1111;p23"/>
          <p:cNvSpPr/>
          <p:nvPr/>
        </p:nvSpPr>
        <p:spPr>
          <a:xfrm>
            <a:off x="6914387" y="3922776"/>
            <a:ext cx="2016251" cy="246887"/>
          </a:xfrm>
          <a:prstGeom prst="roundRect">
            <a:avLst>
              <a:gd fmla="val 35000" name="adj"/>
            </a:avLst>
          </a:prstGeom>
          <a:solidFill>
            <a:srgbClr val="B5493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W6–W8</a:t>
            </a:r>
            <a:endParaRPr/>
          </a:p>
        </p:txBody>
      </p:sp>
      <p:sp>
        <p:nvSpPr>
          <p:cNvPr id="1112" name="Google Shape;1112;p23"/>
          <p:cNvSpPr txBox="1"/>
          <p:nvPr/>
        </p:nvSpPr>
        <p:spPr>
          <a:xfrm>
            <a:off x="502920" y="4251959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Staff training</a:t>
            </a:r>
            <a:endParaRPr/>
          </a:p>
        </p:txBody>
      </p:sp>
      <p:sp>
        <p:nvSpPr>
          <p:cNvPr id="1113" name="Google Shape;1113;p23"/>
          <p:cNvSpPr/>
          <p:nvPr/>
        </p:nvSpPr>
        <p:spPr>
          <a:xfrm>
            <a:off x="7598663" y="4288536"/>
            <a:ext cx="1331975" cy="246887"/>
          </a:xfrm>
          <a:prstGeom prst="roundRect">
            <a:avLst>
              <a:gd fmla="val 35000" name="adj"/>
            </a:avLst>
          </a:prstGeom>
          <a:solidFill>
            <a:srgbClr val="B9822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W7–W8</a:t>
            </a:r>
            <a:endParaRPr/>
          </a:p>
        </p:txBody>
      </p:sp>
      <p:sp>
        <p:nvSpPr>
          <p:cNvPr id="1114" name="Google Shape;1114;p23"/>
          <p:cNvSpPr txBox="1"/>
          <p:nvPr/>
        </p:nvSpPr>
        <p:spPr>
          <a:xfrm>
            <a:off x="502920" y="461772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Go-live cutover (PMS / HotDoc)</a:t>
            </a:r>
            <a:endParaRPr/>
          </a:p>
        </p:txBody>
      </p:sp>
      <p:sp>
        <p:nvSpPr>
          <p:cNvPr id="1115" name="Google Shape;1115;p23"/>
          <p:cNvSpPr/>
          <p:nvPr/>
        </p:nvSpPr>
        <p:spPr>
          <a:xfrm>
            <a:off x="8282939" y="4654296"/>
            <a:ext cx="647699" cy="246887"/>
          </a:xfrm>
          <a:prstGeom prst="roundRect">
            <a:avLst>
              <a:gd fmla="val 35000" name="adj"/>
            </a:avLst>
          </a:prstGeom>
          <a:solidFill>
            <a:srgbClr val="B5493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W8</a:t>
            </a:r>
            <a:endParaRPr/>
          </a:p>
        </p:txBody>
      </p:sp>
      <p:sp>
        <p:nvSpPr>
          <p:cNvPr id="1116" name="Google Shape;1116;p23"/>
          <p:cNvSpPr txBox="1"/>
          <p:nvPr/>
        </p:nvSpPr>
        <p:spPr>
          <a:xfrm>
            <a:off x="502920" y="4983479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Xero setup, migration &amp; reconciliation</a:t>
            </a:r>
            <a:endParaRPr/>
          </a:p>
        </p:txBody>
      </p:sp>
      <p:sp>
        <p:nvSpPr>
          <p:cNvPr id="1117" name="Google Shape;1117;p23"/>
          <p:cNvSpPr/>
          <p:nvPr/>
        </p:nvSpPr>
        <p:spPr>
          <a:xfrm>
            <a:off x="8967215" y="5020055"/>
            <a:ext cx="2016251" cy="246887"/>
          </a:xfrm>
          <a:prstGeom prst="roundRect">
            <a:avLst>
              <a:gd fmla="val 35000" name="adj"/>
            </a:avLst>
          </a:prstGeom>
          <a:solidFill>
            <a:srgbClr val="2F8577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W9–W11</a:t>
            </a:r>
            <a:endParaRPr/>
          </a:p>
        </p:txBody>
      </p:sp>
      <p:sp>
        <p:nvSpPr>
          <p:cNvPr id="1118" name="Google Shape;1118;p23"/>
          <p:cNvSpPr/>
          <p:nvPr/>
        </p:nvSpPr>
        <p:spPr>
          <a:xfrm>
            <a:off x="10901172" y="5440679"/>
            <a:ext cx="201168" cy="201168"/>
          </a:xfrm>
          <a:prstGeom prst="diamond">
            <a:avLst/>
          </a:prstGeom>
          <a:solidFill>
            <a:srgbClr val="B5493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23"/>
          <p:cNvSpPr txBox="1"/>
          <p:nvPr/>
        </p:nvSpPr>
        <p:spPr>
          <a:xfrm>
            <a:off x="502920" y="5385816"/>
            <a:ext cx="2788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cap="none" strike="noStrike">
                <a:solidFill>
                  <a:srgbClr val="B549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First Quarterly Review</a:t>
            </a:r>
            <a:endParaRPr/>
          </a:p>
        </p:txBody>
      </p:sp>
      <p:sp>
        <p:nvSpPr>
          <p:cNvPr id="1120" name="Google Shape;1120;p23"/>
          <p:cNvSpPr txBox="1"/>
          <p:nvPr/>
        </p:nvSpPr>
        <p:spPr>
          <a:xfrm>
            <a:off x="502920" y="5751575"/>
            <a:ext cx="111831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8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Procurement lead time is the first task — network hardware and licensing ordered in Week 1.</a:t>
            </a:r>
            <a:endParaRPr/>
          </a:p>
        </p:txBody>
      </p:sp>
      <p:cxnSp>
        <p:nvCxnSpPr>
          <p:cNvPr id="1121" name="Google Shape;1121;p23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1122" name="Google Shape;11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23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1124" name="Google Shape;1124;p23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Timeline &amp; Procurement</a:t>
            </a:r>
            <a:endParaRPr/>
          </a:p>
        </p:txBody>
      </p:sp>
      <p:sp>
        <p:nvSpPr>
          <p:cNvPr id="1125" name="Google Shape;1125;p23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 / 26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2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24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MANAGEMENT</a:t>
            </a:r>
            <a:endParaRPr/>
          </a:p>
        </p:txBody>
      </p:sp>
      <p:sp>
        <p:nvSpPr>
          <p:cNvPr id="1132" name="Google Shape;1132;p24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Investment — Researched, Itemised</a:t>
            </a:r>
            <a:endParaRPr/>
          </a:p>
        </p:txBody>
      </p:sp>
      <p:sp>
        <p:nvSpPr>
          <p:cNvPr id="1133" name="Google Shape;1133;p24"/>
          <p:cNvSpPr/>
          <p:nvPr/>
        </p:nvSpPr>
        <p:spPr>
          <a:xfrm>
            <a:off x="502920" y="132588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24"/>
          <p:cNvSpPr txBox="1"/>
          <p:nvPr/>
        </p:nvSpPr>
        <p:spPr>
          <a:xfrm>
            <a:off x="502920" y="1755648"/>
            <a:ext cx="5349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HARDWARE (ONE-OFF)</a:t>
            </a:r>
            <a:endParaRPr/>
          </a:p>
        </p:txBody>
      </p:sp>
      <p:graphicFrame>
        <p:nvGraphicFramePr>
          <p:cNvPr id="1135" name="Google Shape;1135;p24"/>
          <p:cNvGraphicFramePr/>
          <p:nvPr/>
        </p:nvGraphicFramePr>
        <p:xfrm>
          <a:off x="502920" y="20299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{73E2C672-2872-4643-8F06-8D0F69C24944}</a:tableStyleId>
              </a:tblPr>
              <a:tblGrid>
                <a:gridCol w="3246125"/>
                <a:gridCol w="914400"/>
                <a:gridCol w="1188725"/>
              </a:tblGrid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Item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2F85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Qty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2F85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Cost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2F8577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UniFi Dream Machine Pro (UDM-Pro) — gateway / firewall / controller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$539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UniFi Switch Lite 8 PoE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$276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CF9F1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UniFi U6-LR Wi-Fi 6 access point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 × $276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$552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Cabling, mounts &amp; contingency (~10%)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$137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CF9F1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2F857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Hardware Subtotal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7425" marB="27425" marR="91450" marL="91450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2F857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$1,504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E4F1EE"/>
                    </a:solidFill>
                  </a:tcPr>
                </a:tc>
              </a:tr>
            </a:tbl>
          </a:graphicData>
        </a:graphic>
      </p:graphicFrame>
      <p:sp>
        <p:nvSpPr>
          <p:cNvPr id="1136" name="Google Shape;1136;p24"/>
          <p:cNvSpPr txBox="1"/>
          <p:nvPr/>
        </p:nvSpPr>
        <p:spPr>
          <a:xfrm>
            <a:off x="502920" y="3520440"/>
            <a:ext cx="5349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IMPLEMENTATION LABOUR (ONE-OFF)</a:t>
            </a:r>
            <a:endParaRPr/>
          </a:p>
        </p:txBody>
      </p:sp>
      <p:graphicFrame>
        <p:nvGraphicFramePr>
          <p:cNvPr id="1137" name="Google Shape;1137;p24"/>
          <p:cNvGraphicFramePr/>
          <p:nvPr/>
        </p:nvGraphicFramePr>
        <p:xfrm>
          <a:off x="502920" y="3794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{73E2C672-2872-4643-8F06-8D0F69C24944}</a:tableStyleId>
              </a:tblPr>
              <a:tblGrid>
                <a:gridCol w="3246125"/>
                <a:gridCol w="914400"/>
                <a:gridCol w="1188725"/>
              </a:tblGrid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Scope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2F85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Est. Hours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2F85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Cost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2F8577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Network install, config &amp; testing (Month 1)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16 hrs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$3,520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Bp Premier + HotDoc migration &amp; staff training (Month 2)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24 hrs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$5,280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CF9F1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Xero setup, data migration &amp; reconciliation (Month 3)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12 hrs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69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$2,640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</a:tr>
              <a:tr h="22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2F857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Labour Subtotal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7425" marB="27425" marR="91450" marL="91450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69" u="none" cap="none" strike="noStrike">
                          <a:solidFill>
                            <a:srgbClr val="2F857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$11,440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E4F1EE"/>
                    </a:solidFill>
                  </a:tcPr>
                </a:tc>
              </a:tr>
            </a:tbl>
          </a:graphicData>
        </a:graphic>
      </p:graphicFrame>
      <p:sp>
        <p:nvSpPr>
          <p:cNvPr id="1138" name="Google Shape;1138;p24"/>
          <p:cNvSpPr txBox="1"/>
          <p:nvPr/>
        </p:nvSpPr>
        <p:spPr>
          <a:xfrm>
            <a:off x="502920" y="5193792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6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Scoped at a market rate of $190–270/hr for AU network &amp; systems consulting (mid-point $220/hr used); hours are a planning estimate, confirmed after the site visit.</a:t>
            </a:r>
            <a:endParaRPr/>
          </a:p>
        </p:txBody>
      </p:sp>
      <p:sp>
        <p:nvSpPr>
          <p:cNvPr id="1139" name="Google Shape;1139;p24"/>
          <p:cNvSpPr txBox="1"/>
          <p:nvPr/>
        </p:nvSpPr>
        <p:spPr>
          <a:xfrm>
            <a:off x="502920" y="5623560"/>
            <a:ext cx="5349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One-off Implementation Total:  $12,944</a:t>
            </a:r>
            <a:endParaRPr/>
          </a:p>
        </p:txBody>
      </p:sp>
      <p:sp>
        <p:nvSpPr>
          <p:cNvPr id="1140" name="Google Shape;1140;p24"/>
          <p:cNvSpPr txBox="1"/>
          <p:nvPr/>
        </p:nvSpPr>
        <p:spPr>
          <a:xfrm>
            <a:off x="6263640" y="1755648"/>
            <a:ext cx="4965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ANNUAL RETAINER (RECURRING MONTHLY)</a:t>
            </a:r>
            <a:endParaRPr/>
          </a:p>
        </p:txBody>
      </p:sp>
      <p:graphicFrame>
        <p:nvGraphicFramePr>
          <p:cNvPr id="1141" name="Google Shape;1141;p24"/>
          <p:cNvGraphicFramePr/>
          <p:nvPr/>
        </p:nvGraphicFramePr>
        <p:xfrm>
          <a:off x="6263640" y="20299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{73E2C672-2872-4643-8F06-8D0F69C24944}</a:tableStyleId>
              </a:tblPr>
              <a:tblGrid>
                <a:gridCol w="2788925"/>
                <a:gridCol w="1371600"/>
                <a:gridCol w="804675"/>
              </a:tblGrid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3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Service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2F85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3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Scope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2F85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3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 / Month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2F8577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30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Best Practice Bp Premier — licensing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30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 FT + 1 visiting practitioner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30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$446.83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30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HotDoc — patient engagement &amp; reminders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30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 active practitioners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30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$341.20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CF9F1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30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Xero Comprehensive — incl. payroll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30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 organisation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30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$107.00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30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Cloud backup — AU-hosted (server + 2 devices)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30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 endpoints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30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$52.00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CF9F1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30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Managed IT retainer — helpdesk, patching, endpoint security &amp; monitoring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30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 user seats × $195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30" u="none" cap="none" strike="noStrike">
                          <a:solidFill>
                            <a:srgbClr val="362E2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$1,560.00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30" u="none" cap="none" strike="noStrike">
                          <a:solidFill>
                            <a:srgbClr val="B982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Monthly Subtotal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DF1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7425" marB="27425" marR="91450" marL="91450" anchor="ctr">
                    <a:solidFill>
                      <a:srgbClr val="FDF1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30" u="none" cap="none" strike="noStrike">
                          <a:solidFill>
                            <a:srgbClr val="B982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$2,507.03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DF1D9"/>
                    </a:solidFill>
                  </a:tcPr>
                </a:tc>
              </a:tr>
            </a:tbl>
          </a:graphicData>
        </a:graphic>
      </p:graphicFrame>
      <p:sp>
        <p:nvSpPr>
          <p:cNvPr id="1142" name="Google Shape;1142;p24"/>
          <p:cNvSpPr txBox="1"/>
          <p:nvPr/>
        </p:nvSpPr>
        <p:spPr>
          <a:xfrm>
            <a:off x="6263640" y="4087368"/>
            <a:ext cx="49651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6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 user seats = 3 GPs + 1 visiting specialist + 1 FT/1 PT reception + 1 FT/1 PT nursing (incl. Dr Simmons's wife's hours), across ~7 shared workstations.</a:t>
            </a:r>
            <a:endParaRPr/>
          </a:p>
        </p:txBody>
      </p:sp>
      <p:sp>
        <p:nvSpPr>
          <p:cNvPr id="1143" name="Google Shape;1143;p24"/>
          <p:cNvSpPr txBox="1"/>
          <p:nvPr/>
        </p:nvSpPr>
        <p:spPr>
          <a:xfrm>
            <a:off x="6263640" y="4498848"/>
            <a:ext cx="4965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OPTIONAL ADD-ON SERVICES</a:t>
            </a:r>
            <a:endParaRPr/>
          </a:p>
        </p:txBody>
      </p:sp>
      <p:sp>
        <p:nvSpPr>
          <p:cNvPr id="1144" name="Google Shape;1144;p24"/>
          <p:cNvSpPr txBox="1"/>
          <p:nvPr/>
        </p:nvSpPr>
        <p:spPr>
          <a:xfrm>
            <a:off x="6263640" y="4773168"/>
            <a:ext cx="3776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Annual equipment test &amp; tag (~35 items)</a:t>
            </a:r>
            <a:endParaRPr/>
          </a:p>
        </p:txBody>
      </p:sp>
      <p:sp>
        <p:nvSpPr>
          <p:cNvPr id="1145" name="Google Shape;1145;p24"/>
          <p:cNvSpPr txBox="1"/>
          <p:nvPr/>
        </p:nvSpPr>
        <p:spPr>
          <a:xfrm>
            <a:off x="10040111" y="477316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$272.50 / yr</a:t>
            </a:r>
            <a:endParaRPr/>
          </a:p>
        </p:txBody>
      </p:sp>
      <p:sp>
        <p:nvSpPr>
          <p:cNvPr id="1146" name="Google Shape;1146;p24"/>
          <p:cNvSpPr txBox="1"/>
          <p:nvPr/>
        </p:nvSpPr>
        <p:spPr>
          <a:xfrm>
            <a:off x="6263640" y="5065776"/>
            <a:ext cx="3776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Annual network security audit (scoped, entry-level)</a:t>
            </a:r>
            <a:endParaRPr/>
          </a:p>
        </p:txBody>
      </p:sp>
      <p:sp>
        <p:nvSpPr>
          <p:cNvPr id="1147" name="Google Shape;1147;p24"/>
          <p:cNvSpPr txBox="1"/>
          <p:nvPr/>
        </p:nvSpPr>
        <p:spPr>
          <a:xfrm>
            <a:off x="10040111" y="506577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$5,000 / yr</a:t>
            </a:r>
            <a:endParaRPr/>
          </a:p>
        </p:txBody>
      </p:sp>
      <p:sp>
        <p:nvSpPr>
          <p:cNvPr id="1148" name="Google Shape;1148;p24"/>
          <p:cNvSpPr txBox="1"/>
          <p:nvPr/>
        </p:nvSpPr>
        <p:spPr>
          <a:xfrm>
            <a:off x="6263640" y="5458968"/>
            <a:ext cx="49651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Annual Retainer Total:  $30,084 / yr</a:t>
            </a:r>
            <a:endParaRPr/>
          </a:p>
        </p:txBody>
      </p:sp>
      <p:sp>
        <p:nvSpPr>
          <p:cNvPr id="1149" name="Google Shape;1149;p24"/>
          <p:cNvSpPr/>
          <p:nvPr/>
        </p:nvSpPr>
        <p:spPr>
          <a:xfrm>
            <a:off x="502920" y="6016752"/>
            <a:ext cx="11183111" cy="457200"/>
          </a:xfrm>
          <a:prstGeom prst="roundRect">
            <a:avLst>
              <a:gd fmla="val 15000" name="adj"/>
            </a:avLst>
          </a:prstGeom>
          <a:solidFill>
            <a:srgbClr val="FBE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24"/>
          <p:cNvSpPr txBox="1"/>
          <p:nvPr/>
        </p:nvSpPr>
        <p:spPr>
          <a:xfrm>
            <a:off x="502920" y="6016752"/>
            <a:ext cx="1118311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5493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First-Year Investment (Implementation + 12-Month Retainer):  $43,028  ex-GST</a:t>
            </a:r>
            <a:endParaRPr/>
          </a:p>
        </p:txBody>
      </p:sp>
      <p:cxnSp>
        <p:nvCxnSpPr>
          <p:cNvPr id="1151" name="Google Shape;1151;p24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1152" name="Google Shape;11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24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1154" name="Google Shape;1154;p24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Investment</a:t>
            </a:r>
            <a:endParaRPr/>
          </a:p>
        </p:txBody>
      </p:sp>
      <p:sp>
        <p:nvSpPr>
          <p:cNvPr id="1155" name="Google Shape;1155;p24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 / 26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25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25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MANAGEMENT</a:t>
            </a:r>
            <a:endParaRPr/>
          </a:p>
        </p:txBody>
      </p:sp>
      <p:sp>
        <p:nvSpPr>
          <p:cNvPr id="1162" name="Google Shape;1162;p25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 &amp; Next Steps</a:t>
            </a:r>
            <a:endParaRPr/>
          </a:p>
        </p:txBody>
      </p:sp>
      <p:sp>
        <p:nvSpPr>
          <p:cNvPr id="1163" name="Google Shape;1163;p25"/>
          <p:cNvSpPr/>
          <p:nvPr/>
        </p:nvSpPr>
        <p:spPr>
          <a:xfrm>
            <a:off x="502920" y="132588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25"/>
          <p:cNvSpPr txBox="1"/>
          <p:nvPr/>
        </p:nvSpPr>
        <p:spPr>
          <a:xfrm>
            <a:off x="502920" y="1783080"/>
            <a:ext cx="6126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Changing IT and financial systems involves more than technology — it depends on trust between the practice and the people supporting it. We'd welcome the opportunity to support Simmons Medical Practice through this transition and beyond.</a:t>
            </a:r>
            <a:endParaRPr/>
          </a:p>
        </p:txBody>
      </p:sp>
      <p:sp>
        <p:nvSpPr>
          <p:cNvPr id="1165" name="Google Shape;1165;p25"/>
          <p:cNvSpPr/>
          <p:nvPr/>
        </p:nvSpPr>
        <p:spPr>
          <a:xfrm>
            <a:off x="630936" y="3246120"/>
            <a:ext cx="475488" cy="475488"/>
          </a:xfrm>
          <a:prstGeom prst="ellipse">
            <a:avLst/>
          </a:prstGeom>
          <a:solidFill>
            <a:srgbClr val="D9754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1166" name="Google Shape;1166;p25"/>
          <p:cNvSpPr txBox="1"/>
          <p:nvPr/>
        </p:nvSpPr>
        <p:spPr>
          <a:xfrm>
            <a:off x="1280160" y="324612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Confirm scope on a short follow-up call with Dr Simmons</a:t>
            </a:r>
            <a:endParaRPr/>
          </a:p>
        </p:txBody>
      </p:sp>
      <p:sp>
        <p:nvSpPr>
          <p:cNvPr id="1167" name="Google Shape;1167;p25"/>
          <p:cNvSpPr/>
          <p:nvPr/>
        </p:nvSpPr>
        <p:spPr>
          <a:xfrm>
            <a:off x="630936" y="3931920"/>
            <a:ext cx="475488" cy="475488"/>
          </a:xfrm>
          <a:prstGeom prst="ellipse">
            <a:avLst/>
          </a:prstGeom>
          <a:solidFill>
            <a:srgbClr val="D9754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1168" name="Google Shape;1168;p25"/>
          <p:cNvSpPr txBox="1"/>
          <p:nvPr/>
        </p:nvSpPr>
        <p:spPr>
          <a:xfrm>
            <a:off x="1280160" y="393192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Site visit to finalise pricing (Appendix A) and sign-off</a:t>
            </a:r>
            <a:endParaRPr/>
          </a:p>
        </p:txBody>
      </p:sp>
      <p:sp>
        <p:nvSpPr>
          <p:cNvPr id="1169" name="Google Shape;1169;p25"/>
          <p:cNvSpPr/>
          <p:nvPr/>
        </p:nvSpPr>
        <p:spPr>
          <a:xfrm>
            <a:off x="630936" y="4617720"/>
            <a:ext cx="475488" cy="475488"/>
          </a:xfrm>
          <a:prstGeom prst="ellipse">
            <a:avLst/>
          </a:prstGeom>
          <a:solidFill>
            <a:srgbClr val="D9754A"/>
          </a:solidFill>
          <a:ln>
            <a:noFill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1170" name="Google Shape;1170;p25"/>
          <p:cNvSpPr txBox="1"/>
          <p:nvPr/>
        </p:nvSpPr>
        <p:spPr>
          <a:xfrm>
            <a:off x="1280160" y="461772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Begin Month 1 — network upgrade — ahead of contract end</a:t>
            </a:r>
            <a:endParaRPr/>
          </a:p>
        </p:txBody>
      </p:sp>
      <p:sp>
        <p:nvSpPr>
          <p:cNvPr id="1171" name="Google Shape;1171;p25"/>
          <p:cNvSpPr/>
          <p:nvPr/>
        </p:nvSpPr>
        <p:spPr>
          <a:xfrm>
            <a:off x="7040880" y="1783080"/>
            <a:ext cx="4187952" cy="3931920"/>
          </a:xfrm>
          <a:prstGeom prst="roundRect">
            <a:avLst>
              <a:gd fmla="val 8000" name="adj"/>
            </a:avLst>
          </a:prstGeom>
          <a:solidFill>
            <a:srgbClr val="FAF3E4"/>
          </a:solidFill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dir="5400000" dist="31750">
              <a:srgbClr val="362E27">
                <a:alpha val="2392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25"/>
          <p:cNvSpPr txBox="1"/>
          <p:nvPr/>
        </p:nvSpPr>
        <p:spPr>
          <a:xfrm>
            <a:off x="7360920" y="2057400"/>
            <a:ext cx="3547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GET IN TOUCH</a:t>
            </a:r>
            <a:endParaRPr/>
          </a:p>
        </p:txBody>
      </p:sp>
      <p:sp>
        <p:nvSpPr>
          <p:cNvPr id="1173" name="Google Shape;1173;p25"/>
          <p:cNvSpPr txBox="1"/>
          <p:nvPr/>
        </p:nvSpPr>
        <p:spPr>
          <a:xfrm>
            <a:off x="7360920" y="2423160"/>
            <a:ext cx="354787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Level 3, 88 Eagle Street, Brisbane QLD 4000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(07) 3000 1122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partners@abcpartners.com.au</a:t>
            </a:r>
            <a:endParaRPr/>
          </a:p>
        </p:txBody>
      </p:sp>
      <p:cxnSp>
        <p:nvCxnSpPr>
          <p:cNvPr id="1174" name="Google Shape;1174;p25"/>
          <p:cNvCxnSpPr/>
          <p:nvPr/>
        </p:nvCxnSpPr>
        <p:spPr>
          <a:xfrm>
            <a:off x="7360920" y="4114800"/>
            <a:ext cx="3547872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5" name="Google Shape;1175;p25"/>
          <p:cNvSpPr txBox="1"/>
          <p:nvPr/>
        </p:nvSpPr>
        <p:spPr>
          <a:xfrm>
            <a:off x="7360920" y="4251960"/>
            <a:ext cx="3547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Proposal submitted to:</a:t>
            </a:r>
            <a:endParaRPr/>
          </a:p>
        </p:txBody>
      </p:sp>
      <p:sp>
        <p:nvSpPr>
          <p:cNvPr id="1176" name="Google Shape;1176;p25"/>
          <p:cNvSpPr txBox="1"/>
          <p:nvPr/>
        </p:nvSpPr>
        <p:spPr>
          <a:xfrm>
            <a:off x="7360920" y="4526280"/>
            <a:ext cx="35478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 Paul Simmons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Simmons Medical Practice — 24 Grafton Street, Toowong QLD 4066</a:t>
            </a:r>
            <a:endParaRPr/>
          </a:p>
        </p:txBody>
      </p:sp>
      <p:pic>
        <p:nvPicPr>
          <p:cNvPr descr="abc_partners_logo_icon.png" id="1177" name="Google Shape;117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0" y="5257800"/>
            <a:ext cx="418961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mmons_medical_logo_icon.png" id="1178" name="Google Shape;117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24744" y="5257800"/>
            <a:ext cx="418961" cy="3840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9" name="Google Shape;1179;p25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1180" name="Google Shape;11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25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1182" name="Google Shape;1182;p25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Next Steps</a:t>
            </a:r>
            <a:endParaRPr/>
          </a:p>
        </p:txBody>
      </p:sp>
      <p:sp>
        <p:nvSpPr>
          <p:cNvPr id="1183" name="Google Shape;1183;p25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 / 26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26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26"/>
          <p:cNvSpPr txBox="1"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APPENDIX</a:t>
            </a:r>
            <a:endParaRPr/>
          </a:p>
        </p:txBody>
      </p:sp>
      <p:sp>
        <p:nvSpPr>
          <p:cNvPr id="1190" name="Google Shape;1190;p26"/>
          <p:cNvSpPr txBox="1"/>
          <p:nvPr/>
        </p:nvSpPr>
        <p:spPr>
          <a:xfrm>
            <a:off x="502920" y="7040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Sources &amp; References</a:t>
            </a:r>
            <a:endParaRPr/>
          </a:p>
        </p:txBody>
      </p:sp>
      <p:sp>
        <p:nvSpPr>
          <p:cNvPr id="1191" name="Google Shape;1191;p26"/>
          <p:cNvSpPr txBox="1"/>
          <p:nvPr/>
        </p:nvSpPr>
        <p:spPr>
          <a:xfrm>
            <a:off x="502920" y="13258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researched figure in this deck traces back to one of the sources below</a:t>
            </a:r>
            <a:endParaRPr/>
          </a:p>
        </p:txBody>
      </p:sp>
      <p:sp>
        <p:nvSpPr>
          <p:cNvPr id="1192" name="Google Shape;1192;p26"/>
          <p:cNvSpPr/>
          <p:nvPr/>
        </p:nvSpPr>
        <p:spPr>
          <a:xfrm>
            <a:off x="502920" y="1691640"/>
            <a:ext cx="502920" cy="41148"/>
          </a:xfrm>
          <a:prstGeom prst="rect">
            <a:avLst/>
          </a:prstGeom>
          <a:solidFill>
            <a:srgbClr val="2F85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26"/>
          <p:cNvSpPr txBox="1"/>
          <p:nvPr/>
        </p:nvSpPr>
        <p:spPr>
          <a:xfrm>
            <a:off x="502920" y="1737360"/>
            <a:ext cx="11183111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Primary source: </a:t>
            </a:r>
            <a:r>
              <a:rPr b="0" i="0" lang="en-US" sz="105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Proposal — Simmons Medical Practice, submitted 26 July 2026 (ABC Partners). This deck is the accompanying pitch presentation.</a:t>
            </a:r>
            <a:endParaRPr/>
          </a:p>
        </p:txBody>
      </p:sp>
      <p:sp>
        <p:nvSpPr>
          <p:cNvPr id="1194" name="Google Shape;1194;p26"/>
          <p:cNvSpPr txBox="1"/>
          <p:nvPr/>
        </p:nvSpPr>
        <p:spPr>
          <a:xfrm>
            <a:off x="502920" y="233172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54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VENDOR &amp; PRODUCT PRICING</a:t>
            </a:r>
            <a:endParaRPr/>
          </a:p>
        </p:txBody>
      </p:sp>
      <p:cxnSp>
        <p:nvCxnSpPr>
          <p:cNvPr id="1195" name="Google Shape;1195;p26"/>
          <p:cNvCxnSpPr/>
          <p:nvPr/>
        </p:nvCxnSpPr>
        <p:spPr>
          <a:xfrm>
            <a:off x="502920" y="265176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D975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6" name="Google Shape;1196;p26"/>
          <p:cNvSpPr txBox="1"/>
          <p:nvPr/>
        </p:nvSpPr>
        <p:spPr>
          <a:xfrm>
            <a:off x="502920" y="2880360"/>
            <a:ext cx="35204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Best Practice Software — Bp Premier pricing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bpsoftware.net/premier-pricing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0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HotDoc — practice pricing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support.hotdoc.com.au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0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Xero — AU pricing plans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xero.com/au/pricing-plans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0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Ubiquiti UniFi hardware — AU retail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thetechgeeks.com, mrwifi.com.au, ozbargain.com.au</a:t>
            </a:r>
            <a:endParaRPr/>
          </a:p>
        </p:txBody>
      </p:sp>
      <p:sp>
        <p:nvSpPr>
          <p:cNvPr id="1197" name="Google Shape;1197;p26"/>
          <p:cNvSpPr txBox="1"/>
          <p:nvPr/>
        </p:nvSpPr>
        <p:spPr>
          <a:xfrm>
            <a:off x="4343400" y="233172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982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MARKET RESEARCH — BUDGET FIGURES</a:t>
            </a:r>
            <a:endParaRPr/>
          </a:p>
        </p:txBody>
      </p:sp>
      <p:cxnSp>
        <p:nvCxnSpPr>
          <p:cNvPr id="1198" name="Google Shape;1198;p26"/>
          <p:cNvCxnSpPr/>
          <p:nvPr/>
        </p:nvCxnSpPr>
        <p:spPr>
          <a:xfrm>
            <a:off x="4343400" y="265176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B982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9" name="Google Shape;1199;p26"/>
          <p:cNvSpPr txBox="1"/>
          <p:nvPr/>
        </p:nvSpPr>
        <p:spPr>
          <a:xfrm>
            <a:off x="4343400" y="2880360"/>
            <a:ext cx="35204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AU-hosted cloud backup pricing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i360cloud.net.au/cloudbackups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0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Managed IT services pricing guide (AU)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kmtech.com.au, stanfieldit.com, valont.com.au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0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 consulting hourly rates (AU)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aalpha.net, sbaas.com.au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0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Penetration testing / security audit cost (AU)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arankish.com.au, cyberpulse.com.au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0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 &amp; tag pricing (AU)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gotestandtag.com.au, thelocalguystestandtag.com.au</a:t>
            </a:r>
            <a:endParaRPr/>
          </a:p>
        </p:txBody>
      </p:sp>
      <p:sp>
        <p:nvSpPr>
          <p:cNvPr id="1200" name="Google Shape;1200;p26"/>
          <p:cNvSpPr txBox="1"/>
          <p:nvPr/>
        </p:nvSpPr>
        <p:spPr>
          <a:xfrm>
            <a:off x="8183880" y="233172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857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COMPLIANCE REFERENCES</a:t>
            </a:r>
            <a:endParaRPr/>
          </a:p>
        </p:txBody>
      </p:sp>
      <p:cxnSp>
        <p:nvCxnSpPr>
          <p:cNvPr id="1201" name="Google Shape;1201;p26"/>
          <p:cNvCxnSpPr/>
          <p:nvPr/>
        </p:nvCxnSpPr>
        <p:spPr>
          <a:xfrm>
            <a:off x="8183880" y="265176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2F857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2" name="Google Shape;1202;p26"/>
          <p:cNvSpPr txBox="1"/>
          <p:nvPr/>
        </p:nvSpPr>
        <p:spPr>
          <a:xfrm>
            <a:off x="8183880" y="2880360"/>
            <a:ext cx="35204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Health record retention — Qld Health / RANZCP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health.qld.gov.au, ranzcp.org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030" u="none" cap="none" strike="noStrike">
                <a:solidFill>
                  <a:srgbClr val="362E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Notifiable Data Breaches scheme — OAIC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6B5F5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oaic.gov.au</a:t>
            </a:r>
            <a:endParaRPr/>
          </a:p>
        </p:txBody>
      </p:sp>
      <p:cxnSp>
        <p:nvCxnSpPr>
          <p:cNvPr id="1203" name="Google Shape;1203;p26"/>
          <p:cNvCxnSpPr/>
          <p:nvPr/>
        </p:nvCxnSpPr>
        <p:spPr>
          <a:xfrm>
            <a:off x="502920" y="6455664"/>
            <a:ext cx="11185855" cy="0"/>
          </a:xfrm>
          <a:prstGeom prst="straightConnector1">
            <a:avLst/>
          </a:prstGeom>
          <a:noFill/>
          <a:ln cap="flat" cmpd="sng" w="9525">
            <a:solidFill>
              <a:srgbClr val="E4DC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bc_partners_logo_icon.png" id="1204" name="Google Shape;12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519672"/>
            <a:ext cx="219456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26"/>
          <p:cNvSpPr txBox="1"/>
          <p:nvPr/>
        </p:nvSpPr>
        <p:spPr>
          <a:xfrm>
            <a:off x="795528" y="6537959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ABC Partners  ×  Simmons Medical Practice</a:t>
            </a:r>
            <a:endParaRPr/>
          </a:p>
        </p:txBody>
      </p:sp>
      <p:sp>
        <p:nvSpPr>
          <p:cNvPr id="1206" name="Google Shape;1206;p26"/>
          <p:cNvSpPr txBox="1"/>
          <p:nvPr/>
        </p:nvSpPr>
        <p:spPr>
          <a:xfrm>
            <a:off x="4206240" y="6537959"/>
            <a:ext cx="3776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Sources</a:t>
            </a:r>
            <a:endParaRPr/>
          </a:p>
        </p:txBody>
      </p:sp>
      <p:sp>
        <p:nvSpPr>
          <p:cNvPr id="1207" name="Google Shape;1207;p26"/>
          <p:cNvSpPr txBox="1"/>
          <p:nvPr/>
        </p:nvSpPr>
        <p:spPr>
          <a:xfrm>
            <a:off x="10424160" y="6537959"/>
            <a:ext cx="12618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C928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 / 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